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847" r:id="rId1"/>
  </p:sldMasterIdLst>
  <p:notesMasterIdLst>
    <p:notesMasterId r:id="rId15"/>
  </p:notesMasterIdLst>
  <p:sldIdLst>
    <p:sldId id="269" r:id="rId2"/>
    <p:sldId id="267" r:id="rId3"/>
    <p:sldId id="258" r:id="rId4"/>
    <p:sldId id="257" r:id="rId5"/>
    <p:sldId id="270" r:id="rId6"/>
    <p:sldId id="264" r:id="rId7"/>
    <p:sldId id="260" r:id="rId8"/>
    <p:sldId id="263" r:id="rId9"/>
    <p:sldId id="265" r:id="rId10"/>
    <p:sldId id="274" r:id="rId11"/>
    <p:sldId id="273" r:id="rId12"/>
    <p:sldId id="272" r:id="rId13"/>
    <p:sldId id="271"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97" d="100"/>
          <a:sy n="97" d="100"/>
        </p:scale>
        <p:origin x="1110" y="30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_rels/data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image" Target="../media/image1.png"/><Relationship Id="rId4" Type="http://schemas.openxmlformats.org/officeDocument/2006/relationships/image" Target="../media/image4.svg"/></Relationships>
</file>

<file path=ppt/diagrams/_rels/drawing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image" Target="../media/image1.png"/><Relationship Id="rId4" Type="http://schemas.openxmlformats.org/officeDocument/2006/relationships/image" Target="../media/image4.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04CF0CF-904D-4287-8607-7A9A3C30AFC2}" type="doc">
      <dgm:prSet loTypeId="urn:microsoft.com/office/officeart/2018/2/layout/IconLabelDescriptionList" loCatId="icon" qsTypeId="urn:microsoft.com/office/officeart/2005/8/quickstyle/simple1" qsCatId="simple" csTypeId="urn:microsoft.com/office/officeart/2005/8/colors/accent1_2" csCatId="accent1" phldr="1"/>
      <dgm:spPr/>
      <dgm:t>
        <a:bodyPr/>
        <a:lstStyle/>
        <a:p>
          <a:endParaRPr lang="en-US"/>
        </a:p>
      </dgm:t>
    </dgm:pt>
    <dgm:pt modelId="{080B0283-766C-4726-9E00-F34749383791}">
      <dgm:prSet/>
      <dgm:spPr/>
      <dgm:t>
        <a:bodyPr/>
        <a:lstStyle/>
        <a:p>
          <a:pPr>
            <a:lnSpc>
              <a:spcPct val="100000"/>
            </a:lnSpc>
            <a:defRPr b="1"/>
          </a:pPr>
          <a:r>
            <a:rPr lang="en-IN" b="1"/>
            <a:t>Revenue</a:t>
          </a:r>
          <a:r>
            <a:rPr lang="en-IN"/>
            <a:t> </a:t>
          </a:r>
          <a:endParaRPr lang="en-US"/>
        </a:p>
      </dgm:t>
    </dgm:pt>
    <dgm:pt modelId="{AE2D0025-9B0E-4F84-BF3E-61C4980AE411}" type="parTrans" cxnId="{8B83681C-538D-4C18-BFD7-873C6470FBEA}">
      <dgm:prSet/>
      <dgm:spPr/>
      <dgm:t>
        <a:bodyPr/>
        <a:lstStyle/>
        <a:p>
          <a:endParaRPr lang="en-US"/>
        </a:p>
      </dgm:t>
    </dgm:pt>
    <dgm:pt modelId="{74DF5940-6079-43A7-B493-FB9167C90B6A}" type="sibTrans" cxnId="{8B83681C-538D-4C18-BFD7-873C6470FBEA}">
      <dgm:prSet/>
      <dgm:spPr/>
      <dgm:t>
        <a:bodyPr/>
        <a:lstStyle/>
        <a:p>
          <a:endParaRPr lang="en-US"/>
        </a:p>
      </dgm:t>
    </dgm:pt>
    <dgm:pt modelId="{2FFC5A12-E2B2-4AC6-8604-F2AB9F8A1C50}">
      <dgm:prSet/>
      <dgm:spPr/>
      <dgm:t>
        <a:bodyPr/>
        <a:lstStyle/>
        <a:p>
          <a:pPr>
            <a:lnSpc>
              <a:spcPct val="100000"/>
            </a:lnSpc>
          </a:pPr>
          <a:r>
            <a:rPr lang="en-IN"/>
            <a:t>Month</a:t>
          </a:r>
          <a:endParaRPr lang="en-US"/>
        </a:p>
      </dgm:t>
    </dgm:pt>
    <dgm:pt modelId="{1767B35A-9C99-4576-BFC4-9E0E1DC6A0F2}" type="parTrans" cxnId="{6C1F369F-23FA-4862-846E-61EF12476083}">
      <dgm:prSet/>
      <dgm:spPr/>
      <dgm:t>
        <a:bodyPr/>
        <a:lstStyle/>
        <a:p>
          <a:endParaRPr lang="en-US"/>
        </a:p>
      </dgm:t>
    </dgm:pt>
    <dgm:pt modelId="{C4753B2A-1042-4EB2-9D18-D657DCCE51BE}" type="sibTrans" cxnId="{6C1F369F-23FA-4862-846E-61EF12476083}">
      <dgm:prSet/>
      <dgm:spPr/>
      <dgm:t>
        <a:bodyPr/>
        <a:lstStyle/>
        <a:p>
          <a:endParaRPr lang="en-US"/>
        </a:p>
      </dgm:t>
    </dgm:pt>
    <dgm:pt modelId="{A66AC90E-9F9E-4B99-A8D0-1EAD6A9A1BD9}">
      <dgm:prSet/>
      <dgm:spPr/>
      <dgm:t>
        <a:bodyPr/>
        <a:lstStyle/>
        <a:p>
          <a:pPr>
            <a:lnSpc>
              <a:spcPct val="100000"/>
            </a:lnSpc>
          </a:pPr>
          <a:r>
            <a:rPr lang="en-IN"/>
            <a:t>Week</a:t>
          </a:r>
          <a:endParaRPr lang="en-US"/>
        </a:p>
      </dgm:t>
    </dgm:pt>
    <dgm:pt modelId="{3D560DAD-D5C4-4B5C-AF37-523195D684E9}" type="parTrans" cxnId="{B500438C-8317-454E-826E-C62AB0FA2365}">
      <dgm:prSet/>
      <dgm:spPr/>
      <dgm:t>
        <a:bodyPr/>
        <a:lstStyle/>
        <a:p>
          <a:endParaRPr lang="en-US"/>
        </a:p>
      </dgm:t>
    </dgm:pt>
    <dgm:pt modelId="{C775A734-B744-4B0C-B971-703AA54754A1}" type="sibTrans" cxnId="{B500438C-8317-454E-826E-C62AB0FA2365}">
      <dgm:prSet/>
      <dgm:spPr/>
      <dgm:t>
        <a:bodyPr/>
        <a:lstStyle/>
        <a:p>
          <a:endParaRPr lang="en-US"/>
        </a:p>
      </dgm:t>
    </dgm:pt>
    <dgm:pt modelId="{37D9F977-8034-4F59-8356-EBBB77C2FF4D}">
      <dgm:prSet/>
      <dgm:spPr/>
      <dgm:t>
        <a:bodyPr/>
        <a:lstStyle/>
        <a:p>
          <a:pPr>
            <a:lnSpc>
              <a:spcPct val="100000"/>
            </a:lnSpc>
          </a:pPr>
          <a:r>
            <a:rPr lang="en-IN"/>
            <a:t>Properties</a:t>
          </a:r>
          <a:endParaRPr lang="en-US"/>
        </a:p>
      </dgm:t>
    </dgm:pt>
    <dgm:pt modelId="{CC7E7DAC-23C5-449F-98A4-E2204E8BA64B}" type="parTrans" cxnId="{30E5C3F2-9FC8-48D9-8E25-E7114175F1A2}">
      <dgm:prSet/>
      <dgm:spPr/>
      <dgm:t>
        <a:bodyPr/>
        <a:lstStyle/>
        <a:p>
          <a:endParaRPr lang="en-US"/>
        </a:p>
      </dgm:t>
    </dgm:pt>
    <dgm:pt modelId="{009A1917-15CE-4F72-89B9-3C3DA021D36D}" type="sibTrans" cxnId="{30E5C3F2-9FC8-48D9-8E25-E7114175F1A2}">
      <dgm:prSet/>
      <dgm:spPr/>
      <dgm:t>
        <a:bodyPr/>
        <a:lstStyle/>
        <a:p>
          <a:endParaRPr lang="en-US"/>
        </a:p>
      </dgm:t>
    </dgm:pt>
    <dgm:pt modelId="{F468E7BB-E66E-4F48-A6FB-71E2224C160E}">
      <dgm:prSet/>
      <dgm:spPr/>
      <dgm:t>
        <a:bodyPr/>
        <a:lstStyle/>
        <a:p>
          <a:pPr>
            <a:lnSpc>
              <a:spcPct val="100000"/>
            </a:lnSpc>
          </a:pPr>
          <a:r>
            <a:rPr lang="en-IN"/>
            <a:t>Cities</a:t>
          </a:r>
          <a:endParaRPr lang="en-US"/>
        </a:p>
      </dgm:t>
    </dgm:pt>
    <dgm:pt modelId="{B3C632DC-18C2-4DFE-869B-BB9BAB3F6CC0}" type="parTrans" cxnId="{35B14542-767A-410C-8007-B53EE4777832}">
      <dgm:prSet/>
      <dgm:spPr/>
      <dgm:t>
        <a:bodyPr/>
        <a:lstStyle/>
        <a:p>
          <a:endParaRPr lang="en-US"/>
        </a:p>
      </dgm:t>
    </dgm:pt>
    <dgm:pt modelId="{3898CDB0-02C5-4826-813F-0DE19A997BC4}" type="sibTrans" cxnId="{35B14542-767A-410C-8007-B53EE4777832}">
      <dgm:prSet/>
      <dgm:spPr/>
      <dgm:t>
        <a:bodyPr/>
        <a:lstStyle/>
        <a:p>
          <a:endParaRPr lang="en-US"/>
        </a:p>
      </dgm:t>
    </dgm:pt>
    <dgm:pt modelId="{150E4FB8-7F40-4CE6-B3B3-702D372A2243}">
      <dgm:prSet/>
      <dgm:spPr/>
      <dgm:t>
        <a:bodyPr/>
        <a:lstStyle/>
        <a:p>
          <a:pPr>
            <a:lnSpc>
              <a:spcPct val="100000"/>
            </a:lnSpc>
            <a:defRPr b="1"/>
          </a:pPr>
          <a:r>
            <a:rPr lang="en-IN" b="1"/>
            <a:t>Booking</a:t>
          </a:r>
          <a:endParaRPr lang="en-US"/>
        </a:p>
      </dgm:t>
    </dgm:pt>
    <dgm:pt modelId="{9F3CA4BD-06BE-4B57-B601-22AE6953A8B1}" type="parTrans" cxnId="{1E9300DA-049D-48BB-853B-14158021F5B3}">
      <dgm:prSet/>
      <dgm:spPr/>
      <dgm:t>
        <a:bodyPr/>
        <a:lstStyle/>
        <a:p>
          <a:endParaRPr lang="en-US"/>
        </a:p>
      </dgm:t>
    </dgm:pt>
    <dgm:pt modelId="{A391C3FD-81A5-4DAD-9B92-0F2528B9509D}" type="sibTrans" cxnId="{1E9300DA-049D-48BB-853B-14158021F5B3}">
      <dgm:prSet/>
      <dgm:spPr/>
      <dgm:t>
        <a:bodyPr/>
        <a:lstStyle/>
        <a:p>
          <a:endParaRPr lang="en-US"/>
        </a:p>
      </dgm:t>
    </dgm:pt>
    <dgm:pt modelId="{599C09A7-6D16-4229-BC6A-CF932FAC4299}">
      <dgm:prSet/>
      <dgm:spPr/>
      <dgm:t>
        <a:bodyPr/>
        <a:lstStyle/>
        <a:p>
          <a:pPr>
            <a:lnSpc>
              <a:spcPct val="100000"/>
            </a:lnSpc>
          </a:pPr>
          <a:r>
            <a:rPr lang="en-IN"/>
            <a:t>Month</a:t>
          </a:r>
          <a:endParaRPr lang="en-US"/>
        </a:p>
      </dgm:t>
    </dgm:pt>
    <dgm:pt modelId="{B8677E57-39DB-4AB3-8AE9-48D54925DCF1}" type="parTrans" cxnId="{FC488F9B-C605-4D1A-AEA6-A456338D2B7B}">
      <dgm:prSet/>
      <dgm:spPr/>
      <dgm:t>
        <a:bodyPr/>
        <a:lstStyle/>
        <a:p>
          <a:endParaRPr lang="en-US"/>
        </a:p>
      </dgm:t>
    </dgm:pt>
    <dgm:pt modelId="{E852879D-3F9F-428E-9B7F-C5104BB49043}" type="sibTrans" cxnId="{FC488F9B-C605-4D1A-AEA6-A456338D2B7B}">
      <dgm:prSet/>
      <dgm:spPr/>
      <dgm:t>
        <a:bodyPr/>
        <a:lstStyle/>
        <a:p>
          <a:endParaRPr lang="en-US"/>
        </a:p>
      </dgm:t>
    </dgm:pt>
    <dgm:pt modelId="{50E2091E-2A37-4BFB-8755-DF024D16B159}">
      <dgm:prSet/>
      <dgm:spPr/>
      <dgm:t>
        <a:bodyPr/>
        <a:lstStyle/>
        <a:p>
          <a:pPr>
            <a:lnSpc>
              <a:spcPct val="100000"/>
            </a:lnSpc>
          </a:pPr>
          <a:r>
            <a:rPr lang="en-IN"/>
            <a:t>Week</a:t>
          </a:r>
          <a:endParaRPr lang="en-US"/>
        </a:p>
      </dgm:t>
    </dgm:pt>
    <dgm:pt modelId="{9114CF9F-E279-40B2-81AF-C9E6C1E09925}" type="parTrans" cxnId="{A1DD800E-B746-436C-995E-EC8A9BB6DC03}">
      <dgm:prSet/>
      <dgm:spPr/>
      <dgm:t>
        <a:bodyPr/>
        <a:lstStyle/>
        <a:p>
          <a:endParaRPr lang="en-US"/>
        </a:p>
      </dgm:t>
    </dgm:pt>
    <dgm:pt modelId="{18932137-93E6-4741-9D7E-E80927AC08CE}" type="sibTrans" cxnId="{A1DD800E-B746-436C-995E-EC8A9BB6DC03}">
      <dgm:prSet/>
      <dgm:spPr/>
      <dgm:t>
        <a:bodyPr/>
        <a:lstStyle/>
        <a:p>
          <a:endParaRPr lang="en-US"/>
        </a:p>
      </dgm:t>
    </dgm:pt>
    <dgm:pt modelId="{0D5903F1-573E-43A5-A4F3-2CD18B282E80}">
      <dgm:prSet/>
      <dgm:spPr/>
      <dgm:t>
        <a:bodyPr/>
        <a:lstStyle/>
        <a:p>
          <a:pPr>
            <a:lnSpc>
              <a:spcPct val="100000"/>
            </a:lnSpc>
          </a:pPr>
          <a:r>
            <a:rPr lang="en-IN"/>
            <a:t>Properties</a:t>
          </a:r>
          <a:endParaRPr lang="en-US"/>
        </a:p>
      </dgm:t>
    </dgm:pt>
    <dgm:pt modelId="{A78A96E3-2975-41CE-AEFA-7774D3467037}" type="parTrans" cxnId="{2434644B-C7D1-47B7-9381-511173749A5A}">
      <dgm:prSet/>
      <dgm:spPr/>
      <dgm:t>
        <a:bodyPr/>
        <a:lstStyle/>
        <a:p>
          <a:endParaRPr lang="en-US"/>
        </a:p>
      </dgm:t>
    </dgm:pt>
    <dgm:pt modelId="{0F2D714A-1E33-41EA-8B0E-86E2F335887C}" type="sibTrans" cxnId="{2434644B-C7D1-47B7-9381-511173749A5A}">
      <dgm:prSet/>
      <dgm:spPr/>
      <dgm:t>
        <a:bodyPr/>
        <a:lstStyle/>
        <a:p>
          <a:endParaRPr lang="en-US"/>
        </a:p>
      </dgm:t>
    </dgm:pt>
    <dgm:pt modelId="{258EE2A7-0C7D-4BD4-805D-F83858E8C6DE}">
      <dgm:prSet/>
      <dgm:spPr/>
      <dgm:t>
        <a:bodyPr/>
        <a:lstStyle/>
        <a:p>
          <a:pPr>
            <a:lnSpc>
              <a:spcPct val="100000"/>
            </a:lnSpc>
          </a:pPr>
          <a:r>
            <a:rPr lang="en-IN"/>
            <a:t>Cities</a:t>
          </a:r>
          <a:endParaRPr lang="en-US"/>
        </a:p>
      </dgm:t>
    </dgm:pt>
    <dgm:pt modelId="{25555A98-FB10-48D2-8E5E-C23A89446A73}" type="parTrans" cxnId="{AF9DD885-87FC-4363-B5C5-5C223CDC1C6D}">
      <dgm:prSet/>
      <dgm:spPr/>
      <dgm:t>
        <a:bodyPr/>
        <a:lstStyle/>
        <a:p>
          <a:endParaRPr lang="en-US"/>
        </a:p>
      </dgm:t>
    </dgm:pt>
    <dgm:pt modelId="{F70B01C2-BBDF-43FD-8A00-C4F8ADF80215}" type="sibTrans" cxnId="{AF9DD885-87FC-4363-B5C5-5C223CDC1C6D}">
      <dgm:prSet/>
      <dgm:spPr/>
      <dgm:t>
        <a:bodyPr/>
        <a:lstStyle/>
        <a:p>
          <a:endParaRPr lang="en-US"/>
        </a:p>
      </dgm:t>
    </dgm:pt>
    <dgm:pt modelId="{731AFC1C-36E4-467D-A7B1-A7AF9CBD0345}">
      <dgm:prSet/>
      <dgm:spPr/>
      <dgm:t>
        <a:bodyPr/>
        <a:lstStyle/>
        <a:p>
          <a:pPr>
            <a:lnSpc>
              <a:spcPct val="100000"/>
            </a:lnSpc>
            <a:defRPr b="1"/>
          </a:pPr>
          <a:r>
            <a:rPr lang="en-IN" b="1"/>
            <a:t>Rating Analysis Report</a:t>
          </a:r>
          <a:endParaRPr lang="en-US"/>
        </a:p>
      </dgm:t>
    </dgm:pt>
    <dgm:pt modelId="{C866D8A3-4B13-45FB-848D-A0B0FD7F7555}" type="parTrans" cxnId="{09CC7E85-2CCC-4B58-9B5C-D7F37875F07E}">
      <dgm:prSet/>
      <dgm:spPr/>
      <dgm:t>
        <a:bodyPr/>
        <a:lstStyle/>
        <a:p>
          <a:endParaRPr lang="en-US"/>
        </a:p>
      </dgm:t>
    </dgm:pt>
    <dgm:pt modelId="{59AE4038-36D0-44B9-BC64-2D66C57965D2}" type="sibTrans" cxnId="{09CC7E85-2CCC-4B58-9B5C-D7F37875F07E}">
      <dgm:prSet/>
      <dgm:spPr/>
      <dgm:t>
        <a:bodyPr/>
        <a:lstStyle/>
        <a:p>
          <a:endParaRPr lang="en-US"/>
        </a:p>
      </dgm:t>
    </dgm:pt>
    <dgm:pt modelId="{64AFD183-F4A5-441D-B196-7DD1549B8D00}">
      <dgm:prSet/>
      <dgm:spPr/>
      <dgm:t>
        <a:bodyPr/>
        <a:lstStyle/>
        <a:p>
          <a:pPr>
            <a:lnSpc>
              <a:spcPct val="100000"/>
            </a:lnSpc>
          </a:pPr>
          <a:r>
            <a:rPr lang="en-IN"/>
            <a:t>Total Rating given</a:t>
          </a:r>
          <a:endParaRPr lang="en-US"/>
        </a:p>
      </dgm:t>
    </dgm:pt>
    <dgm:pt modelId="{77211D56-2CFF-427B-8DFA-54FD06895660}" type="parTrans" cxnId="{577C01FA-A1F8-4A5C-9E91-61C09CB981F1}">
      <dgm:prSet/>
      <dgm:spPr/>
      <dgm:t>
        <a:bodyPr/>
        <a:lstStyle/>
        <a:p>
          <a:endParaRPr lang="en-US"/>
        </a:p>
      </dgm:t>
    </dgm:pt>
    <dgm:pt modelId="{FBA95E8E-4B31-404D-82C9-2ABEC3CB126E}" type="sibTrans" cxnId="{577C01FA-A1F8-4A5C-9E91-61C09CB981F1}">
      <dgm:prSet/>
      <dgm:spPr/>
      <dgm:t>
        <a:bodyPr/>
        <a:lstStyle/>
        <a:p>
          <a:endParaRPr lang="en-US"/>
        </a:p>
      </dgm:t>
    </dgm:pt>
    <dgm:pt modelId="{8B754CD0-CCCA-4884-A3A6-0E839249E985}">
      <dgm:prSet/>
      <dgm:spPr/>
      <dgm:t>
        <a:bodyPr/>
        <a:lstStyle/>
        <a:p>
          <a:pPr>
            <a:lnSpc>
              <a:spcPct val="100000"/>
            </a:lnSpc>
          </a:pPr>
          <a:r>
            <a:rPr lang="en-IN"/>
            <a:t>Improvement</a:t>
          </a:r>
          <a:endParaRPr lang="en-US"/>
        </a:p>
      </dgm:t>
    </dgm:pt>
    <dgm:pt modelId="{FD4CBF2C-056D-483D-8110-CAA88D8C3F27}" type="parTrans" cxnId="{3A5B36BB-782C-46CA-820B-10122C0BE2B5}">
      <dgm:prSet/>
      <dgm:spPr/>
      <dgm:t>
        <a:bodyPr/>
        <a:lstStyle/>
        <a:p>
          <a:endParaRPr lang="en-US"/>
        </a:p>
      </dgm:t>
    </dgm:pt>
    <dgm:pt modelId="{9209A389-8C87-44D2-9F98-C4DEA3CA3524}" type="sibTrans" cxnId="{3A5B36BB-782C-46CA-820B-10122C0BE2B5}">
      <dgm:prSet/>
      <dgm:spPr/>
      <dgm:t>
        <a:bodyPr/>
        <a:lstStyle/>
        <a:p>
          <a:endParaRPr lang="en-US"/>
        </a:p>
      </dgm:t>
    </dgm:pt>
    <dgm:pt modelId="{309878A5-17C5-48F4-8B61-7EAA72D04714}" type="pres">
      <dgm:prSet presAssocID="{E04CF0CF-904D-4287-8607-7A9A3C30AFC2}" presName="root" presStyleCnt="0">
        <dgm:presLayoutVars>
          <dgm:dir/>
          <dgm:resizeHandles val="exact"/>
        </dgm:presLayoutVars>
      </dgm:prSet>
      <dgm:spPr/>
    </dgm:pt>
    <dgm:pt modelId="{8D89B03A-59F8-42A6-A9BB-BA202126D3A5}" type="pres">
      <dgm:prSet presAssocID="{080B0283-766C-4726-9E00-F34749383791}" presName="compNode" presStyleCnt="0"/>
      <dgm:spPr/>
    </dgm:pt>
    <dgm:pt modelId="{E92A32BC-9552-4AFF-B496-26E9B2022E99}" type="pres">
      <dgm:prSet presAssocID="{080B0283-766C-4726-9E00-F34749383791}"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City"/>
        </a:ext>
      </dgm:extLst>
    </dgm:pt>
    <dgm:pt modelId="{1012DD57-ED75-4E38-ADCD-50E59C7FA617}" type="pres">
      <dgm:prSet presAssocID="{080B0283-766C-4726-9E00-F34749383791}" presName="iconSpace" presStyleCnt="0"/>
      <dgm:spPr/>
    </dgm:pt>
    <dgm:pt modelId="{43867D2B-3F3F-41AE-A49C-ED4F5ED39BED}" type="pres">
      <dgm:prSet presAssocID="{080B0283-766C-4726-9E00-F34749383791}" presName="parTx" presStyleLbl="revTx" presStyleIdx="0" presStyleCnt="6">
        <dgm:presLayoutVars>
          <dgm:chMax val="0"/>
          <dgm:chPref val="0"/>
        </dgm:presLayoutVars>
      </dgm:prSet>
      <dgm:spPr/>
    </dgm:pt>
    <dgm:pt modelId="{3D7771A2-3459-487A-8275-BA65A3AF5115}" type="pres">
      <dgm:prSet presAssocID="{080B0283-766C-4726-9E00-F34749383791}" presName="txSpace" presStyleCnt="0"/>
      <dgm:spPr/>
    </dgm:pt>
    <dgm:pt modelId="{6617FE7C-7614-4FBB-AE93-2600FAC47E90}" type="pres">
      <dgm:prSet presAssocID="{080B0283-766C-4726-9E00-F34749383791}" presName="desTx" presStyleLbl="revTx" presStyleIdx="1" presStyleCnt="6">
        <dgm:presLayoutVars/>
      </dgm:prSet>
      <dgm:spPr/>
    </dgm:pt>
    <dgm:pt modelId="{357AC18A-1FA7-4B47-AB3C-5D67CBE096F4}" type="pres">
      <dgm:prSet presAssocID="{74DF5940-6079-43A7-B493-FB9167C90B6A}" presName="sibTrans" presStyleCnt="0"/>
      <dgm:spPr/>
    </dgm:pt>
    <dgm:pt modelId="{2D62341A-F7D9-459D-9F09-2276B401756E}" type="pres">
      <dgm:prSet presAssocID="{150E4FB8-7F40-4CE6-B3B3-702D372A2243}" presName="compNode" presStyleCnt="0"/>
      <dgm:spPr/>
    </dgm:pt>
    <dgm:pt modelId="{BB5A9011-E05B-4B66-8A49-8C85DD033BE8}" type="pres">
      <dgm:prSet presAssocID="{150E4FB8-7F40-4CE6-B3B3-702D372A2243}"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Upward trend"/>
        </a:ext>
      </dgm:extLst>
    </dgm:pt>
    <dgm:pt modelId="{772B0E7A-D533-403E-9530-35FB531509EE}" type="pres">
      <dgm:prSet presAssocID="{150E4FB8-7F40-4CE6-B3B3-702D372A2243}" presName="iconSpace" presStyleCnt="0"/>
      <dgm:spPr/>
    </dgm:pt>
    <dgm:pt modelId="{E5BC99B3-9A23-4541-BC36-E7024631477B}" type="pres">
      <dgm:prSet presAssocID="{150E4FB8-7F40-4CE6-B3B3-702D372A2243}" presName="parTx" presStyleLbl="revTx" presStyleIdx="2" presStyleCnt="6">
        <dgm:presLayoutVars>
          <dgm:chMax val="0"/>
          <dgm:chPref val="0"/>
        </dgm:presLayoutVars>
      </dgm:prSet>
      <dgm:spPr/>
    </dgm:pt>
    <dgm:pt modelId="{B28C2602-CBCA-4AB8-89B9-4F2D488FD409}" type="pres">
      <dgm:prSet presAssocID="{150E4FB8-7F40-4CE6-B3B3-702D372A2243}" presName="txSpace" presStyleCnt="0"/>
      <dgm:spPr/>
    </dgm:pt>
    <dgm:pt modelId="{D07B66B7-F69E-4506-B878-9618B9E3ED6B}" type="pres">
      <dgm:prSet presAssocID="{150E4FB8-7F40-4CE6-B3B3-702D372A2243}" presName="desTx" presStyleLbl="revTx" presStyleIdx="3" presStyleCnt="6">
        <dgm:presLayoutVars/>
      </dgm:prSet>
      <dgm:spPr/>
    </dgm:pt>
    <dgm:pt modelId="{C8789FCD-FD20-4EF4-A608-0800F0449CA0}" type="pres">
      <dgm:prSet presAssocID="{A391C3FD-81A5-4DAD-9B92-0F2528B9509D}" presName="sibTrans" presStyleCnt="0"/>
      <dgm:spPr/>
    </dgm:pt>
    <dgm:pt modelId="{5978FE51-4775-4222-A784-F0C36C144E1A}" type="pres">
      <dgm:prSet presAssocID="{731AFC1C-36E4-467D-A7B1-A7AF9CBD0345}" presName="compNode" presStyleCnt="0"/>
      <dgm:spPr/>
    </dgm:pt>
    <dgm:pt modelId="{FA9016FE-CD0A-47CF-893A-691E7C017B0E}" type="pres">
      <dgm:prSet presAssocID="{731AFC1C-36E4-467D-A7B1-A7AF9CBD0345}" presName="iconRect" presStyleLbl="node1" presStyleIdx="2" presStyleCnt="3"/>
      <dgm:spPr/>
    </dgm:pt>
    <dgm:pt modelId="{51BEC800-AB11-4962-86F6-625D5C0FCD8A}" type="pres">
      <dgm:prSet presAssocID="{731AFC1C-36E4-467D-A7B1-A7AF9CBD0345}" presName="iconSpace" presStyleCnt="0"/>
      <dgm:spPr/>
    </dgm:pt>
    <dgm:pt modelId="{3E55267A-236F-4658-B064-18E17A9F1459}" type="pres">
      <dgm:prSet presAssocID="{731AFC1C-36E4-467D-A7B1-A7AF9CBD0345}" presName="parTx" presStyleLbl="revTx" presStyleIdx="4" presStyleCnt="6">
        <dgm:presLayoutVars>
          <dgm:chMax val="0"/>
          <dgm:chPref val="0"/>
        </dgm:presLayoutVars>
      </dgm:prSet>
      <dgm:spPr/>
    </dgm:pt>
    <dgm:pt modelId="{B47B80DE-83DC-49BE-B2ED-128F9B21A7BF}" type="pres">
      <dgm:prSet presAssocID="{731AFC1C-36E4-467D-A7B1-A7AF9CBD0345}" presName="txSpace" presStyleCnt="0"/>
      <dgm:spPr/>
    </dgm:pt>
    <dgm:pt modelId="{003775D2-B30D-4F18-AF26-82380D0CF43A}" type="pres">
      <dgm:prSet presAssocID="{731AFC1C-36E4-467D-A7B1-A7AF9CBD0345}" presName="desTx" presStyleLbl="revTx" presStyleIdx="5" presStyleCnt="6">
        <dgm:presLayoutVars/>
      </dgm:prSet>
      <dgm:spPr/>
    </dgm:pt>
  </dgm:ptLst>
  <dgm:cxnLst>
    <dgm:cxn modelId="{1186C000-6109-487B-9168-6E297F1B1F4B}" type="presOf" srcId="{50E2091E-2A37-4BFB-8755-DF024D16B159}" destId="{D07B66B7-F69E-4506-B878-9618B9E3ED6B}" srcOrd="0" destOrd="1" presId="urn:microsoft.com/office/officeart/2018/2/layout/IconLabelDescriptionList"/>
    <dgm:cxn modelId="{601AE408-F112-470D-B852-95DE1566BA98}" type="presOf" srcId="{F468E7BB-E66E-4F48-A6FB-71E2224C160E}" destId="{6617FE7C-7614-4FBB-AE93-2600FAC47E90}" srcOrd="0" destOrd="3" presId="urn:microsoft.com/office/officeart/2018/2/layout/IconLabelDescriptionList"/>
    <dgm:cxn modelId="{A1DD800E-B746-436C-995E-EC8A9BB6DC03}" srcId="{150E4FB8-7F40-4CE6-B3B3-702D372A2243}" destId="{50E2091E-2A37-4BFB-8755-DF024D16B159}" srcOrd="1" destOrd="0" parTransId="{9114CF9F-E279-40B2-81AF-C9E6C1E09925}" sibTransId="{18932137-93E6-4741-9D7E-E80927AC08CE}"/>
    <dgm:cxn modelId="{84EA9714-9F83-4939-9A1C-403A22562D87}" type="presOf" srcId="{8B754CD0-CCCA-4884-A3A6-0E839249E985}" destId="{003775D2-B30D-4F18-AF26-82380D0CF43A}" srcOrd="0" destOrd="1" presId="urn:microsoft.com/office/officeart/2018/2/layout/IconLabelDescriptionList"/>
    <dgm:cxn modelId="{8B83681C-538D-4C18-BFD7-873C6470FBEA}" srcId="{E04CF0CF-904D-4287-8607-7A9A3C30AFC2}" destId="{080B0283-766C-4726-9E00-F34749383791}" srcOrd="0" destOrd="0" parTransId="{AE2D0025-9B0E-4F84-BF3E-61C4980AE411}" sibTransId="{74DF5940-6079-43A7-B493-FB9167C90B6A}"/>
    <dgm:cxn modelId="{5F655A3B-B4BC-4E86-8785-C86F4E2339AF}" type="presOf" srcId="{731AFC1C-36E4-467D-A7B1-A7AF9CBD0345}" destId="{3E55267A-236F-4658-B064-18E17A9F1459}" srcOrd="0" destOrd="0" presId="urn:microsoft.com/office/officeart/2018/2/layout/IconLabelDescriptionList"/>
    <dgm:cxn modelId="{35B14542-767A-410C-8007-B53EE4777832}" srcId="{080B0283-766C-4726-9E00-F34749383791}" destId="{F468E7BB-E66E-4F48-A6FB-71E2224C160E}" srcOrd="3" destOrd="0" parTransId="{B3C632DC-18C2-4DFE-869B-BB9BAB3F6CC0}" sibTransId="{3898CDB0-02C5-4826-813F-0DE19A997BC4}"/>
    <dgm:cxn modelId="{2434644B-C7D1-47B7-9381-511173749A5A}" srcId="{150E4FB8-7F40-4CE6-B3B3-702D372A2243}" destId="{0D5903F1-573E-43A5-A4F3-2CD18B282E80}" srcOrd="2" destOrd="0" parTransId="{A78A96E3-2975-41CE-AEFA-7774D3467037}" sibTransId="{0F2D714A-1E33-41EA-8B0E-86E2F335887C}"/>
    <dgm:cxn modelId="{A8E14F6D-226B-4A4B-8F13-31E7E3D22A70}" type="presOf" srcId="{0D5903F1-573E-43A5-A4F3-2CD18B282E80}" destId="{D07B66B7-F69E-4506-B878-9618B9E3ED6B}" srcOrd="0" destOrd="2" presId="urn:microsoft.com/office/officeart/2018/2/layout/IconLabelDescriptionList"/>
    <dgm:cxn modelId="{E739276E-FF0A-47BC-87A8-468DA2220A90}" type="presOf" srcId="{64AFD183-F4A5-441D-B196-7DD1549B8D00}" destId="{003775D2-B30D-4F18-AF26-82380D0CF43A}" srcOrd="0" destOrd="0" presId="urn:microsoft.com/office/officeart/2018/2/layout/IconLabelDescriptionList"/>
    <dgm:cxn modelId="{EB2B3057-AECB-45F4-95AB-892508643B1D}" type="presOf" srcId="{599C09A7-6D16-4229-BC6A-CF932FAC4299}" destId="{D07B66B7-F69E-4506-B878-9618B9E3ED6B}" srcOrd="0" destOrd="0" presId="urn:microsoft.com/office/officeart/2018/2/layout/IconLabelDescriptionList"/>
    <dgm:cxn modelId="{CF929283-FB4E-47EB-9D91-01C3385A1D70}" type="presOf" srcId="{A66AC90E-9F9E-4B99-A8D0-1EAD6A9A1BD9}" destId="{6617FE7C-7614-4FBB-AE93-2600FAC47E90}" srcOrd="0" destOrd="1" presId="urn:microsoft.com/office/officeart/2018/2/layout/IconLabelDescriptionList"/>
    <dgm:cxn modelId="{09CC7E85-2CCC-4B58-9B5C-D7F37875F07E}" srcId="{E04CF0CF-904D-4287-8607-7A9A3C30AFC2}" destId="{731AFC1C-36E4-467D-A7B1-A7AF9CBD0345}" srcOrd="2" destOrd="0" parTransId="{C866D8A3-4B13-45FB-848D-A0B0FD7F7555}" sibTransId="{59AE4038-36D0-44B9-BC64-2D66C57965D2}"/>
    <dgm:cxn modelId="{AF9DD885-87FC-4363-B5C5-5C223CDC1C6D}" srcId="{150E4FB8-7F40-4CE6-B3B3-702D372A2243}" destId="{258EE2A7-0C7D-4BD4-805D-F83858E8C6DE}" srcOrd="3" destOrd="0" parTransId="{25555A98-FB10-48D2-8E5E-C23A89446A73}" sibTransId="{F70B01C2-BBDF-43FD-8A00-C4F8ADF80215}"/>
    <dgm:cxn modelId="{D9FFB086-DF6B-4299-878D-88C437A65EFC}" type="presOf" srcId="{080B0283-766C-4726-9E00-F34749383791}" destId="{43867D2B-3F3F-41AE-A49C-ED4F5ED39BED}" srcOrd="0" destOrd="0" presId="urn:microsoft.com/office/officeart/2018/2/layout/IconLabelDescriptionList"/>
    <dgm:cxn modelId="{B500438C-8317-454E-826E-C62AB0FA2365}" srcId="{080B0283-766C-4726-9E00-F34749383791}" destId="{A66AC90E-9F9E-4B99-A8D0-1EAD6A9A1BD9}" srcOrd="1" destOrd="0" parTransId="{3D560DAD-D5C4-4B5C-AF37-523195D684E9}" sibTransId="{C775A734-B744-4B0C-B971-703AA54754A1}"/>
    <dgm:cxn modelId="{FC488F9B-C605-4D1A-AEA6-A456338D2B7B}" srcId="{150E4FB8-7F40-4CE6-B3B3-702D372A2243}" destId="{599C09A7-6D16-4229-BC6A-CF932FAC4299}" srcOrd="0" destOrd="0" parTransId="{B8677E57-39DB-4AB3-8AE9-48D54925DCF1}" sibTransId="{E852879D-3F9F-428E-9B7F-C5104BB49043}"/>
    <dgm:cxn modelId="{6C1F369F-23FA-4862-846E-61EF12476083}" srcId="{080B0283-766C-4726-9E00-F34749383791}" destId="{2FFC5A12-E2B2-4AC6-8604-F2AB9F8A1C50}" srcOrd="0" destOrd="0" parTransId="{1767B35A-9C99-4576-BFC4-9E0E1DC6A0F2}" sibTransId="{C4753B2A-1042-4EB2-9D18-D657DCCE51BE}"/>
    <dgm:cxn modelId="{595E9FA2-8457-47FA-A9AA-2A0CC99FF1A6}" type="presOf" srcId="{2FFC5A12-E2B2-4AC6-8604-F2AB9F8A1C50}" destId="{6617FE7C-7614-4FBB-AE93-2600FAC47E90}" srcOrd="0" destOrd="0" presId="urn:microsoft.com/office/officeart/2018/2/layout/IconLabelDescriptionList"/>
    <dgm:cxn modelId="{3A5B36BB-782C-46CA-820B-10122C0BE2B5}" srcId="{731AFC1C-36E4-467D-A7B1-A7AF9CBD0345}" destId="{8B754CD0-CCCA-4884-A3A6-0E839249E985}" srcOrd="1" destOrd="0" parTransId="{FD4CBF2C-056D-483D-8110-CAA88D8C3F27}" sibTransId="{9209A389-8C87-44D2-9F98-C4DEA3CA3524}"/>
    <dgm:cxn modelId="{00DDB5D8-0969-4E92-84B0-8A3501996AFF}" type="presOf" srcId="{150E4FB8-7F40-4CE6-B3B3-702D372A2243}" destId="{E5BC99B3-9A23-4541-BC36-E7024631477B}" srcOrd="0" destOrd="0" presId="urn:microsoft.com/office/officeart/2018/2/layout/IconLabelDescriptionList"/>
    <dgm:cxn modelId="{1E9300DA-049D-48BB-853B-14158021F5B3}" srcId="{E04CF0CF-904D-4287-8607-7A9A3C30AFC2}" destId="{150E4FB8-7F40-4CE6-B3B3-702D372A2243}" srcOrd="1" destOrd="0" parTransId="{9F3CA4BD-06BE-4B57-B601-22AE6953A8B1}" sibTransId="{A391C3FD-81A5-4DAD-9B92-0F2528B9509D}"/>
    <dgm:cxn modelId="{530BB7EC-E5BC-4770-A40A-4C76547A9584}" type="presOf" srcId="{258EE2A7-0C7D-4BD4-805D-F83858E8C6DE}" destId="{D07B66B7-F69E-4506-B878-9618B9E3ED6B}" srcOrd="0" destOrd="3" presId="urn:microsoft.com/office/officeart/2018/2/layout/IconLabelDescriptionList"/>
    <dgm:cxn modelId="{64C24EEF-66DA-45A5-9B38-07F06E949A44}" type="presOf" srcId="{E04CF0CF-904D-4287-8607-7A9A3C30AFC2}" destId="{309878A5-17C5-48F4-8B61-7EAA72D04714}" srcOrd="0" destOrd="0" presId="urn:microsoft.com/office/officeart/2018/2/layout/IconLabelDescriptionList"/>
    <dgm:cxn modelId="{30E5C3F2-9FC8-48D9-8E25-E7114175F1A2}" srcId="{080B0283-766C-4726-9E00-F34749383791}" destId="{37D9F977-8034-4F59-8356-EBBB77C2FF4D}" srcOrd="2" destOrd="0" parTransId="{CC7E7DAC-23C5-449F-98A4-E2204E8BA64B}" sibTransId="{009A1917-15CE-4F72-89B9-3C3DA021D36D}"/>
    <dgm:cxn modelId="{1EB86EF3-9898-49DF-A843-5C5E5A57E46E}" type="presOf" srcId="{37D9F977-8034-4F59-8356-EBBB77C2FF4D}" destId="{6617FE7C-7614-4FBB-AE93-2600FAC47E90}" srcOrd="0" destOrd="2" presId="urn:microsoft.com/office/officeart/2018/2/layout/IconLabelDescriptionList"/>
    <dgm:cxn modelId="{577C01FA-A1F8-4A5C-9E91-61C09CB981F1}" srcId="{731AFC1C-36E4-467D-A7B1-A7AF9CBD0345}" destId="{64AFD183-F4A5-441D-B196-7DD1549B8D00}" srcOrd="0" destOrd="0" parTransId="{77211D56-2CFF-427B-8DFA-54FD06895660}" sibTransId="{FBA95E8E-4B31-404D-82C9-2ABEC3CB126E}"/>
    <dgm:cxn modelId="{34AF5C18-73A6-4732-88C7-C007B1FAD813}" type="presParOf" srcId="{309878A5-17C5-48F4-8B61-7EAA72D04714}" destId="{8D89B03A-59F8-42A6-A9BB-BA202126D3A5}" srcOrd="0" destOrd="0" presId="urn:microsoft.com/office/officeart/2018/2/layout/IconLabelDescriptionList"/>
    <dgm:cxn modelId="{C0C4005F-0C8F-4AEE-A72D-4FF411BFD9E2}" type="presParOf" srcId="{8D89B03A-59F8-42A6-A9BB-BA202126D3A5}" destId="{E92A32BC-9552-4AFF-B496-26E9B2022E99}" srcOrd="0" destOrd="0" presId="urn:microsoft.com/office/officeart/2018/2/layout/IconLabelDescriptionList"/>
    <dgm:cxn modelId="{DCD76830-E00B-47EE-90C7-25A3D8876982}" type="presParOf" srcId="{8D89B03A-59F8-42A6-A9BB-BA202126D3A5}" destId="{1012DD57-ED75-4E38-ADCD-50E59C7FA617}" srcOrd="1" destOrd="0" presId="urn:microsoft.com/office/officeart/2018/2/layout/IconLabelDescriptionList"/>
    <dgm:cxn modelId="{6F091800-DC2C-4CA8-8902-FF755458E5E2}" type="presParOf" srcId="{8D89B03A-59F8-42A6-A9BB-BA202126D3A5}" destId="{43867D2B-3F3F-41AE-A49C-ED4F5ED39BED}" srcOrd="2" destOrd="0" presId="urn:microsoft.com/office/officeart/2018/2/layout/IconLabelDescriptionList"/>
    <dgm:cxn modelId="{98481939-5AD5-4C86-867E-AA54DC687F35}" type="presParOf" srcId="{8D89B03A-59F8-42A6-A9BB-BA202126D3A5}" destId="{3D7771A2-3459-487A-8275-BA65A3AF5115}" srcOrd="3" destOrd="0" presId="urn:microsoft.com/office/officeart/2018/2/layout/IconLabelDescriptionList"/>
    <dgm:cxn modelId="{AB3523B1-97F4-41ED-892B-B1A83E3BCBA0}" type="presParOf" srcId="{8D89B03A-59F8-42A6-A9BB-BA202126D3A5}" destId="{6617FE7C-7614-4FBB-AE93-2600FAC47E90}" srcOrd="4" destOrd="0" presId="urn:microsoft.com/office/officeart/2018/2/layout/IconLabelDescriptionList"/>
    <dgm:cxn modelId="{1FF71ED8-4525-4DD0-B5D9-E44D329D964B}" type="presParOf" srcId="{309878A5-17C5-48F4-8B61-7EAA72D04714}" destId="{357AC18A-1FA7-4B47-AB3C-5D67CBE096F4}" srcOrd="1" destOrd="0" presId="urn:microsoft.com/office/officeart/2018/2/layout/IconLabelDescriptionList"/>
    <dgm:cxn modelId="{031E2950-A96B-4D51-9EF4-BA33E5401EC4}" type="presParOf" srcId="{309878A5-17C5-48F4-8B61-7EAA72D04714}" destId="{2D62341A-F7D9-459D-9F09-2276B401756E}" srcOrd="2" destOrd="0" presId="urn:microsoft.com/office/officeart/2018/2/layout/IconLabelDescriptionList"/>
    <dgm:cxn modelId="{A72FAD29-0CBC-4EBB-A3B4-A099AFDBFD16}" type="presParOf" srcId="{2D62341A-F7D9-459D-9F09-2276B401756E}" destId="{BB5A9011-E05B-4B66-8A49-8C85DD033BE8}" srcOrd="0" destOrd="0" presId="urn:microsoft.com/office/officeart/2018/2/layout/IconLabelDescriptionList"/>
    <dgm:cxn modelId="{749AA2B3-DEFA-4265-92E6-67FFC08B063B}" type="presParOf" srcId="{2D62341A-F7D9-459D-9F09-2276B401756E}" destId="{772B0E7A-D533-403E-9530-35FB531509EE}" srcOrd="1" destOrd="0" presId="urn:microsoft.com/office/officeart/2018/2/layout/IconLabelDescriptionList"/>
    <dgm:cxn modelId="{F94ED981-2480-4E41-A187-3EF404C36DED}" type="presParOf" srcId="{2D62341A-F7D9-459D-9F09-2276B401756E}" destId="{E5BC99B3-9A23-4541-BC36-E7024631477B}" srcOrd="2" destOrd="0" presId="urn:microsoft.com/office/officeart/2018/2/layout/IconLabelDescriptionList"/>
    <dgm:cxn modelId="{0514B464-582C-44AE-9DA3-524F003CD962}" type="presParOf" srcId="{2D62341A-F7D9-459D-9F09-2276B401756E}" destId="{B28C2602-CBCA-4AB8-89B9-4F2D488FD409}" srcOrd="3" destOrd="0" presId="urn:microsoft.com/office/officeart/2018/2/layout/IconLabelDescriptionList"/>
    <dgm:cxn modelId="{811A2359-CA42-42F8-B77D-15CC67E65F96}" type="presParOf" srcId="{2D62341A-F7D9-459D-9F09-2276B401756E}" destId="{D07B66B7-F69E-4506-B878-9618B9E3ED6B}" srcOrd="4" destOrd="0" presId="urn:microsoft.com/office/officeart/2018/2/layout/IconLabelDescriptionList"/>
    <dgm:cxn modelId="{47369A0B-33F7-48F4-97F3-8D6025495C1A}" type="presParOf" srcId="{309878A5-17C5-48F4-8B61-7EAA72D04714}" destId="{C8789FCD-FD20-4EF4-A608-0800F0449CA0}" srcOrd="3" destOrd="0" presId="urn:microsoft.com/office/officeart/2018/2/layout/IconLabelDescriptionList"/>
    <dgm:cxn modelId="{DA445986-6B1D-41D4-9976-EA55A175E252}" type="presParOf" srcId="{309878A5-17C5-48F4-8B61-7EAA72D04714}" destId="{5978FE51-4775-4222-A784-F0C36C144E1A}" srcOrd="4" destOrd="0" presId="urn:microsoft.com/office/officeart/2018/2/layout/IconLabelDescriptionList"/>
    <dgm:cxn modelId="{1B9A3E61-62A3-4817-9AD7-CBEF01B36411}" type="presParOf" srcId="{5978FE51-4775-4222-A784-F0C36C144E1A}" destId="{FA9016FE-CD0A-47CF-893A-691E7C017B0E}" srcOrd="0" destOrd="0" presId="urn:microsoft.com/office/officeart/2018/2/layout/IconLabelDescriptionList"/>
    <dgm:cxn modelId="{5D15523B-337A-47E2-99B9-F09F5E99022D}" type="presParOf" srcId="{5978FE51-4775-4222-A784-F0C36C144E1A}" destId="{51BEC800-AB11-4962-86F6-625D5C0FCD8A}" srcOrd="1" destOrd="0" presId="urn:microsoft.com/office/officeart/2018/2/layout/IconLabelDescriptionList"/>
    <dgm:cxn modelId="{7F100233-E855-4620-B16E-5BDA4213F8D0}" type="presParOf" srcId="{5978FE51-4775-4222-A784-F0C36C144E1A}" destId="{3E55267A-236F-4658-B064-18E17A9F1459}" srcOrd="2" destOrd="0" presId="urn:microsoft.com/office/officeart/2018/2/layout/IconLabelDescriptionList"/>
    <dgm:cxn modelId="{D16A2FA0-2F74-40DA-AC70-0DBB9E349B9C}" type="presParOf" srcId="{5978FE51-4775-4222-A784-F0C36C144E1A}" destId="{B47B80DE-83DC-49BE-B2ED-128F9B21A7BF}" srcOrd="3" destOrd="0" presId="urn:microsoft.com/office/officeart/2018/2/layout/IconLabelDescriptionList"/>
    <dgm:cxn modelId="{706AA083-672B-410C-96D8-2EC9871E9F9A}" type="presParOf" srcId="{5978FE51-4775-4222-A784-F0C36C144E1A}" destId="{003775D2-B30D-4F18-AF26-82380D0CF43A}" srcOrd="4" destOrd="0" presId="urn:microsoft.com/office/officeart/2018/2/layout/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92A32BC-9552-4AFF-B496-26E9B2022E99}">
      <dsp:nvSpPr>
        <dsp:cNvPr id="0" name=""/>
        <dsp:cNvSpPr/>
      </dsp:nvSpPr>
      <dsp:spPr>
        <a:xfrm>
          <a:off x="209" y="1443712"/>
          <a:ext cx="655593" cy="65559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3867D2B-3F3F-41AE-A49C-ED4F5ED39BED}">
      <dsp:nvSpPr>
        <dsp:cNvPr id="0" name=""/>
        <dsp:cNvSpPr/>
      </dsp:nvSpPr>
      <dsp:spPr>
        <a:xfrm>
          <a:off x="209" y="2200890"/>
          <a:ext cx="1873125" cy="4214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100000"/>
            </a:lnSpc>
            <a:spcBef>
              <a:spcPct val="0"/>
            </a:spcBef>
            <a:spcAft>
              <a:spcPct val="35000"/>
            </a:spcAft>
            <a:buNone/>
            <a:defRPr b="1"/>
          </a:pPr>
          <a:r>
            <a:rPr lang="en-IN" sz="1400" b="1" kern="1200"/>
            <a:t>Revenue</a:t>
          </a:r>
          <a:r>
            <a:rPr lang="en-IN" sz="1400" kern="1200"/>
            <a:t> </a:t>
          </a:r>
          <a:endParaRPr lang="en-US" sz="1400" kern="1200"/>
        </a:p>
      </dsp:txBody>
      <dsp:txXfrm>
        <a:off x="209" y="2200890"/>
        <a:ext cx="1873125" cy="421453"/>
      </dsp:txXfrm>
    </dsp:sp>
    <dsp:sp modelId="{6617FE7C-7614-4FBB-AE93-2600FAC47E90}">
      <dsp:nvSpPr>
        <dsp:cNvPr id="0" name=""/>
        <dsp:cNvSpPr/>
      </dsp:nvSpPr>
      <dsp:spPr>
        <a:xfrm>
          <a:off x="209" y="2669592"/>
          <a:ext cx="1873125" cy="11365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488950">
            <a:lnSpc>
              <a:spcPct val="100000"/>
            </a:lnSpc>
            <a:spcBef>
              <a:spcPct val="0"/>
            </a:spcBef>
            <a:spcAft>
              <a:spcPct val="35000"/>
            </a:spcAft>
            <a:buNone/>
          </a:pPr>
          <a:r>
            <a:rPr lang="en-IN" sz="1100" kern="1200"/>
            <a:t>Month</a:t>
          </a:r>
          <a:endParaRPr lang="en-US" sz="1100" kern="1200"/>
        </a:p>
        <a:p>
          <a:pPr marL="0" lvl="0" indent="0" algn="l" defTabSz="488950">
            <a:lnSpc>
              <a:spcPct val="100000"/>
            </a:lnSpc>
            <a:spcBef>
              <a:spcPct val="0"/>
            </a:spcBef>
            <a:spcAft>
              <a:spcPct val="35000"/>
            </a:spcAft>
            <a:buNone/>
          </a:pPr>
          <a:r>
            <a:rPr lang="en-IN" sz="1100" kern="1200"/>
            <a:t>Week</a:t>
          </a:r>
          <a:endParaRPr lang="en-US" sz="1100" kern="1200"/>
        </a:p>
        <a:p>
          <a:pPr marL="0" lvl="0" indent="0" algn="l" defTabSz="488950">
            <a:lnSpc>
              <a:spcPct val="100000"/>
            </a:lnSpc>
            <a:spcBef>
              <a:spcPct val="0"/>
            </a:spcBef>
            <a:spcAft>
              <a:spcPct val="35000"/>
            </a:spcAft>
            <a:buNone/>
          </a:pPr>
          <a:r>
            <a:rPr lang="en-IN" sz="1100" kern="1200"/>
            <a:t>Properties</a:t>
          </a:r>
          <a:endParaRPr lang="en-US" sz="1100" kern="1200"/>
        </a:p>
        <a:p>
          <a:pPr marL="0" lvl="0" indent="0" algn="l" defTabSz="488950">
            <a:lnSpc>
              <a:spcPct val="100000"/>
            </a:lnSpc>
            <a:spcBef>
              <a:spcPct val="0"/>
            </a:spcBef>
            <a:spcAft>
              <a:spcPct val="35000"/>
            </a:spcAft>
            <a:buNone/>
          </a:pPr>
          <a:r>
            <a:rPr lang="en-IN" sz="1100" kern="1200"/>
            <a:t>Cities</a:t>
          </a:r>
          <a:endParaRPr lang="en-US" sz="1100" kern="1200"/>
        </a:p>
      </dsp:txBody>
      <dsp:txXfrm>
        <a:off x="209" y="2669592"/>
        <a:ext cx="1873125" cy="1136557"/>
      </dsp:txXfrm>
    </dsp:sp>
    <dsp:sp modelId="{BB5A9011-E05B-4B66-8A49-8C85DD033BE8}">
      <dsp:nvSpPr>
        <dsp:cNvPr id="0" name=""/>
        <dsp:cNvSpPr/>
      </dsp:nvSpPr>
      <dsp:spPr>
        <a:xfrm>
          <a:off x="2201130" y="1443712"/>
          <a:ext cx="655593" cy="65559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5BC99B3-9A23-4541-BC36-E7024631477B}">
      <dsp:nvSpPr>
        <dsp:cNvPr id="0" name=""/>
        <dsp:cNvSpPr/>
      </dsp:nvSpPr>
      <dsp:spPr>
        <a:xfrm>
          <a:off x="2201130" y="2200890"/>
          <a:ext cx="1873125" cy="4214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100000"/>
            </a:lnSpc>
            <a:spcBef>
              <a:spcPct val="0"/>
            </a:spcBef>
            <a:spcAft>
              <a:spcPct val="35000"/>
            </a:spcAft>
            <a:buNone/>
            <a:defRPr b="1"/>
          </a:pPr>
          <a:r>
            <a:rPr lang="en-IN" sz="1400" b="1" kern="1200"/>
            <a:t>Booking</a:t>
          </a:r>
          <a:endParaRPr lang="en-US" sz="1400" kern="1200"/>
        </a:p>
      </dsp:txBody>
      <dsp:txXfrm>
        <a:off x="2201130" y="2200890"/>
        <a:ext cx="1873125" cy="421453"/>
      </dsp:txXfrm>
    </dsp:sp>
    <dsp:sp modelId="{D07B66B7-F69E-4506-B878-9618B9E3ED6B}">
      <dsp:nvSpPr>
        <dsp:cNvPr id="0" name=""/>
        <dsp:cNvSpPr/>
      </dsp:nvSpPr>
      <dsp:spPr>
        <a:xfrm>
          <a:off x="2201130" y="2669592"/>
          <a:ext cx="1873125" cy="11365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488950">
            <a:lnSpc>
              <a:spcPct val="100000"/>
            </a:lnSpc>
            <a:spcBef>
              <a:spcPct val="0"/>
            </a:spcBef>
            <a:spcAft>
              <a:spcPct val="35000"/>
            </a:spcAft>
            <a:buNone/>
          </a:pPr>
          <a:r>
            <a:rPr lang="en-IN" sz="1100" kern="1200"/>
            <a:t>Month</a:t>
          </a:r>
          <a:endParaRPr lang="en-US" sz="1100" kern="1200"/>
        </a:p>
        <a:p>
          <a:pPr marL="0" lvl="0" indent="0" algn="l" defTabSz="488950">
            <a:lnSpc>
              <a:spcPct val="100000"/>
            </a:lnSpc>
            <a:spcBef>
              <a:spcPct val="0"/>
            </a:spcBef>
            <a:spcAft>
              <a:spcPct val="35000"/>
            </a:spcAft>
            <a:buNone/>
          </a:pPr>
          <a:r>
            <a:rPr lang="en-IN" sz="1100" kern="1200"/>
            <a:t>Week</a:t>
          </a:r>
          <a:endParaRPr lang="en-US" sz="1100" kern="1200"/>
        </a:p>
        <a:p>
          <a:pPr marL="0" lvl="0" indent="0" algn="l" defTabSz="488950">
            <a:lnSpc>
              <a:spcPct val="100000"/>
            </a:lnSpc>
            <a:spcBef>
              <a:spcPct val="0"/>
            </a:spcBef>
            <a:spcAft>
              <a:spcPct val="35000"/>
            </a:spcAft>
            <a:buNone/>
          </a:pPr>
          <a:r>
            <a:rPr lang="en-IN" sz="1100" kern="1200"/>
            <a:t>Properties</a:t>
          </a:r>
          <a:endParaRPr lang="en-US" sz="1100" kern="1200"/>
        </a:p>
        <a:p>
          <a:pPr marL="0" lvl="0" indent="0" algn="l" defTabSz="488950">
            <a:lnSpc>
              <a:spcPct val="100000"/>
            </a:lnSpc>
            <a:spcBef>
              <a:spcPct val="0"/>
            </a:spcBef>
            <a:spcAft>
              <a:spcPct val="35000"/>
            </a:spcAft>
            <a:buNone/>
          </a:pPr>
          <a:r>
            <a:rPr lang="en-IN" sz="1100" kern="1200"/>
            <a:t>Cities</a:t>
          </a:r>
          <a:endParaRPr lang="en-US" sz="1100" kern="1200"/>
        </a:p>
      </dsp:txBody>
      <dsp:txXfrm>
        <a:off x="2201130" y="2669592"/>
        <a:ext cx="1873125" cy="1136557"/>
      </dsp:txXfrm>
    </dsp:sp>
    <dsp:sp modelId="{FA9016FE-CD0A-47CF-893A-691E7C017B0E}">
      <dsp:nvSpPr>
        <dsp:cNvPr id="0" name=""/>
        <dsp:cNvSpPr/>
      </dsp:nvSpPr>
      <dsp:spPr>
        <a:xfrm>
          <a:off x="4402052" y="1443712"/>
          <a:ext cx="655593" cy="655593"/>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E55267A-236F-4658-B064-18E17A9F1459}">
      <dsp:nvSpPr>
        <dsp:cNvPr id="0" name=""/>
        <dsp:cNvSpPr/>
      </dsp:nvSpPr>
      <dsp:spPr>
        <a:xfrm>
          <a:off x="4402052" y="2200890"/>
          <a:ext cx="1873125" cy="4214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100000"/>
            </a:lnSpc>
            <a:spcBef>
              <a:spcPct val="0"/>
            </a:spcBef>
            <a:spcAft>
              <a:spcPct val="35000"/>
            </a:spcAft>
            <a:buNone/>
            <a:defRPr b="1"/>
          </a:pPr>
          <a:r>
            <a:rPr lang="en-IN" sz="1400" b="1" kern="1200"/>
            <a:t>Rating Analysis Report</a:t>
          </a:r>
          <a:endParaRPr lang="en-US" sz="1400" kern="1200"/>
        </a:p>
      </dsp:txBody>
      <dsp:txXfrm>
        <a:off x="4402052" y="2200890"/>
        <a:ext cx="1873125" cy="421453"/>
      </dsp:txXfrm>
    </dsp:sp>
    <dsp:sp modelId="{003775D2-B30D-4F18-AF26-82380D0CF43A}">
      <dsp:nvSpPr>
        <dsp:cNvPr id="0" name=""/>
        <dsp:cNvSpPr/>
      </dsp:nvSpPr>
      <dsp:spPr>
        <a:xfrm>
          <a:off x="4402052" y="2669592"/>
          <a:ext cx="1873125" cy="11365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488950">
            <a:lnSpc>
              <a:spcPct val="100000"/>
            </a:lnSpc>
            <a:spcBef>
              <a:spcPct val="0"/>
            </a:spcBef>
            <a:spcAft>
              <a:spcPct val="35000"/>
            </a:spcAft>
            <a:buNone/>
          </a:pPr>
          <a:r>
            <a:rPr lang="en-IN" sz="1100" kern="1200"/>
            <a:t>Total Rating given</a:t>
          </a:r>
          <a:endParaRPr lang="en-US" sz="1100" kern="1200"/>
        </a:p>
        <a:p>
          <a:pPr marL="0" lvl="0" indent="0" algn="l" defTabSz="488950">
            <a:lnSpc>
              <a:spcPct val="100000"/>
            </a:lnSpc>
            <a:spcBef>
              <a:spcPct val="0"/>
            </a:spcBef>
            <a:spcAft>
              <a:spcPct val="35000"/>
            </a:spcAft>
            <a:buNone/>
          </a:pPr>
          <a:r>
            <a:rPr lang="en-IN" sz="1100" kern="1200"/>
            <a:t>Improvement</a:t>
          </a:r>
          <a:endParaRPr lang="en-US" sz="1100" kern="1200"/>
        </a:p>
      </dsp:txBody>
      <dsp:txXfrm>
        <a:off x="4402052" y="2669592"/>
        <a:ext cx="1873125" cy="1136557"/>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DC1DF91-0E7B-49BE-8316-166B560E1288}" type="datetimeFigureOut">
              <a:rPr lang="en-IN" smtClean="0"/>
              <a:t>16-02-2025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9B3F454-0E38-45A2-94C3-52128BD48481}" type="slidenum">
              <a:rPr lang="en-IN" smtClean="0"/>
              <a:t>‹#›</a:t>
            </a:fld>
            <a:endParaRPr lang="en-IN"/>
          </a:p>
        </p:txBody>
      </p:sp>
    </p:spTree>
    <p:extLst>
      <p:ext uri="{BB962C8B-B14F-4D97-AF65-F5344CB8AC3E}">
        <p14:creationId xmlns:p14="http://schemas.microsoft.com/office/powerpoint/2010/main" val="7439128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pSp>
        <p:nvGrpSpPr>
          <p:cNvPr id="89" name="Group 88"/>
          <p:cNvGrpSpPr/>
          <p:nvPr/>
        </p:nvGrpSpPr>
        <p:grpSpPr>
          <a:xfrm>
            <a:off x="-329674" y="-59376"/>
            <a:ext cx="12515851" cy="6923798"/>
            <a:chOff x="-329674" y="-51881"/>
            <a:chExt cx="12515851" cy="6923798"/>
          </a:xfrm>
        </p:grpSpPr>
        <p:sp>
          <p:nvSpPr>
            <p:cNvPr id="90" name="Freeform 5"/>
            <p:cNvSpPr/>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6"/>
            <p:cNvSpPr/>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Freeform 7"/>
            <p:cNvSpPr/>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3" name="Freeform 8"/>
            <p:cNvSpPr/>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9"/>
            <p:cNvSpPr/>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10"/>
            <p:cNvSpPr/>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11"/>
            <p:cNvSpPr/>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7" name="Freeform 12"/>
            <p:cNvSpPr/>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8" name="Freeform 13"/>
            <p:cNvSpPr/>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9" name="Freeform 14"/>
            <p:cNvSpPr/>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00" name="Freeform 15"/>
            <p:cNvSpPr/>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101" name="Freeform 16"/>
            <p:cNvSpPr/>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102" name="Freeform 17"/>
            <p:cNvSpPr/>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3" name="Freeform 18"/>
            <p:cNvSpPr/>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4" name="Freeform 19"/>
            <p:cNvSpPr/>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5" name="Freeform 20"/>
            <p:cNvSpPr/>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6" name="Freeform 21"/>
            <p:cNvSpPr/>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7" name="Freeform 22"/>
            <p:cNvSpPr/>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08" name="Freeform 23"/>
            <p:cNvSpPr/>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9" name="Group 8"/>
          <p:cNvGrpSpPr/>
          <p:nvPr/>
        </p:nvGrpSpPr>
        <p:grpSpPr>
          <a:xfrm>
            <a:off x="1669293" y="1186483"/>
            <a:ext cx="8848345" cy="4477933"/>
            <a:chOff x="1669293" y="1186483"/>
            <a:chExt cx="8848345" cy="4477933"/>
          </a:xfrm>
        </p:grpSpPr>
        <p:sp>
          <p:nvSpPr>
            <p:cNvPr id="39" name="Rectangle 38"/>
            <p:cNvSpPr/>
            <p:nvPr/>
          </p:nvSpPr>
          <p:spPr>
            <a:xfrm>
              <a:off x="1674042" y="1186483"/>
              <a:ext cx="8843596" cy="7161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40" name="Isosceles Triangle 39"/>
            <p:cNvSpPr/>
            <p:nvPr/>
          </p:nvSpPr>
          <p:spPr>
            <a:xfrm rot="10800000">
              <a:off x="5892384" y="5313353"/>
              <a:ext cx="407233" cy="35106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41" name="Rectangle 40"/>
            <p:cNvSpPr/>
            <p:nvPr/>
          </p:nvSpPr>
          <p:spPr>
            <a:xfrm>
              <a:off x="1669293" y="1991156"/>
              <a:ext cx="8845667" cy="33221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ctrTitle"/>
          </p:nvPr>
        </p:nvSpPr>
        <p:spPr>
          <a:xfrm>
            <a:off x="1759236" y="2075504"/>
            <a:ext cx="8679915" cy="1748729"/>
          </a:xfrm>
        </p:spPr>
        <p:txBody>
          <a:bodyPr bIns="0" anchor="b">
            <a:normAutofit/>
          </a:bodyPr>
          <a:lstStyle>
            <a:lvl1pPr algn="ctr">
              <a:lnSpc>
                <a:spcPct val="80000"/>
              </a:lnSpc>
              <a:defRPr sz="5400" spc="-150">
                <a:solidFill>
                  <a:srgbClr val="FFFEFF"/>
                </a:solidFill>
              </a:defRPr>
            </a:lvl1pPr>
          </a:lstStyle>
          <a:p>
            <a:r>
              <a:rPr lang="en-US"/>
              <a:t>Click to edit Master title style</a:t>
            </a:r>
            <a:endParaRPr lang="en-US" dirty="0"/>
          </a:p>
        </p:txBody>
      </p:sp>
      <p:sp>
        <p:nvSpPr>
          <p:cNvPr id="3" name="Subtitle 2"/>
          <p:cNvSpPr>
            <a:spLocks noGrp="1"/>
          </p:cNvSpPr>
          <p:nvPr>
            <p:ph type="subTitle" idx="1"/>
          </p:nvPr>
        </p:nvSpPr>
        <p:spPr>
          <a:xfrm>
            <a:off x="1759237" y="3906266"/>
            <a:ext cx="8673427" cy="1322587"/>
          </a:xfrm>
        </p:spPr>
        <p:txBody>
          <a:bodyPr tIns="0">
            <a:normAutofit/>
          </a:bodyPr>
          <a:lstStyle>
            <a:lvl1pPr marL="0" indent="0" algn="ctr">
              <a:lnSpc>
                <a:spcPct val="100000"/>
              </a:lnSpc>
              <a:buNone/>
              <a:defRPr sz="1800" b="0">
                <a:solidFill>
                  <a:srgbClr val="FFFEFF"/>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804672" y="320040"/>
            <a:ext cx="3657600" cy="320040"/>
          </a:xfrm>
        </p:spPr>
        <p:txBody>
          <a:bodyPr vert="horz" lIns="91440" tIns="45720" rIns="91440" bIns="45720" rtlCol="0" anchor="ctr"/>
          <a:lstStyle>
            <a:lvl1pPr>
              <a:defRPr lang="en-US"/>
            </a:lvl1pPr>
          </a:lstStyle>
          <a:p>
            <a:fld id="{87DE6118-2437-4B30-8E3C-4D2BE6020583}" type="datetimeFigureOut">
              <a:rPr lang="en-US" smtClean="0"/>
              <a:pPr/>
              <a:t>2/16/2025</a:t>
            </a:fld>
            <a:endParaRPr lang="en-US" dirty="0"/>
          </a:p>
        </p:txBody>
      </p:sp>
      <p:sp>
        <p:nvSpPr>
          <p:cNvPr id="5" name="Footer Placeholder 4"/>
          <p:cNvSpPr>
            <a:spLocks noGrp="1"/>
          </p:cNvSpPr>
          <p:nvPr>
            <p:ph type="ftr" sz="quarter" idx="11"/>
          </p:nvPr>
        </p:nvSpPr>
        <p:spPr>
          <a:xfrm>
            <a:off x="804672" y="6227064"/>
            <a:ext cx="10588752" cy="320040"/>
          </a:xfrm>
        </p:spPr>
        <p:txBody>
          <a:bodyPr/>
          <a:lstStyle>
            <a:lvl1pPr algn="ctr">
              <a:defRPr/>
            </a:lvl1pPr>
          </a:lstStyle>
          <a:p>
            <a:endParaRPr lang="en-US" dirty="0"/>
          </a:p>
        </p:txBody>
      </p:sp>
      <p:sp>
        <p:nvSpPr>
          <p:cNvPr id="6" name="Slide Number Placeholder 5"/>
          <p:cNvSpPr>
            <a:spLocks noGrp="1"/>
          </p:cNvSpPr>
          <p:nvPr>
            <p:ph type="sldNum" sz="quarter" idx="12"/>
          </p:nvPr>
        </p:nvSpPr>
        <p:spPr>
          <a:xfrm>
            <a:off x="10469880" y="320040"/>
            <a:ext cx="914400" cy="320040"/>
          </a:xfrm>
        </p:spPr>
        <p:txBody>
          <a:bodyPr/>
          <a:lstStyle/>
          <a:p>
            <a:fld id="{69E57DC2-970A-4B3E-BB1C-7A09969E49DF}" type="slidenum">
              <a:rPr lang="en-US" smtClean="0"/>
              <a:pPr/>
              <a:t>‹#›</a:t>
            </a:fld>
            <a:endParaRPr lang="en-US" dirty="0"/>
          </a:p>
        </p:txBody>
      </p:sp>
    </p:spTree>
    <p:extLst>
      <p:ext uri="{BB962C8B-B14F-4D97-AF65-F5344CB8AC3E}">
        <p14:creationId xmlns:p14="http://schemas.microsoft.com/office/powerpoint/2010/main" val="35325715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grpSp>
        <p:nvGrpSpPr>
          <p:cNvPr id="80" name="Group 79"/>
          <p:cNvGrpSpPr/>
          <p:nvPr/>
        </p:nvGrpSpPr>
        <p:grpSpPr>
          <a:xfrm>
            <a:off x="-417513" y="0"/>
            <a:ext cx="12584114" cy="6853238"/>
            <a:chOff x="-417513" y="0"/>
            <a:chExt cx="12584114" cy="6853238"/>
          </a:xfrm>
        </p:grpSpPr>
        <p:sp>
          <p:nvSpPr>
            <p:cNvPr id="81"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5"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6"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7"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7"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8"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9"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0"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1"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7" name="Group 26"/>
          <p:cNvGrpSpPr/>
          <p:nvPr/>
        </p:nvGrpSpPr>
        <p:grpSpPr>
          <a:xfrm>
            <a:off x="800144" y="1699589"/>
            <a:ext cx="3674476" cy="3470421"/>
            <a:chOff x="697883" y="1816768"/>
            <a:chExt cx="3674476" cy="3470421"/>
          </a:xfrm>
        </p:grpSpPr>
        <p:sp>
          <p:nvSpPr>
            <p:cNvPr id="28" name="Rectangle 27"/>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9"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0" name="Rectangle 29"/>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8631" y="2349925"/>
            <a:ext cx="3498979" cy="2456442"/>
          </a:xfrm>
        </p:spPr>
        <p:txBody>
          <a:bodyPr/>
          <a:lstStyle>
            <a:lvl1pPr>
              <a:defRPr>
                <a:solidFill>
                  <a:srgbClr val="FFFEFF"/>
                </a:solidFill>
              </a:defRPr>
            </a:lvl1pPr>
          </a:lstStyle>
          <a:p>
            <a:r>
              <a:rPr lang="en-US"/>
              <a:t>Click to edit Master title style</a:t>
            </a:r>
            <a:endParaRPr lang="en-US" dirty="0"/>
          </a:p>
        </p:txBody>
      </p:sp>
      <p:sp>
        <p:nvSpPr>
          <p:cNvPr id="3" name="Content Placeholder 2"/>
          <p:cNvSpPr>
            <a:spLocks noGrp="1"/>
          </p:cNvSpPr>
          <p:nvPr>
            <p:ph idx="1"/>
          </p:nvPr>
        </p:nvSpPr>
        <p:spPr>
          <a:xfrm>
            <a:off x="5118447" y="803186"/>
            <a:ext cx="6281873" cy="5248622"/>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smtClean="0"/>
              <a:t>2/16/2025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smtClean="0"/>
              <a:t>‹#›</a:t>
            </a:fld>
            <a:endParaRPr lang="en-US" dirty="0"/>
          </a:p>
        </p:txBody>
      </p:sp>
    </p:spTree>
    <p:extLst>
      <p:ext uri="{BB962C8B-B14F-4D97-AF65-F5344CB8AC3E}">
        <p14:creationId xmlns:p14="http://schemas.microsoft.com/office/powerpoint/2010/main" val="9078037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grpSp>
        <p:nvGrpSpPr>
          <p:cNvPr id="77" name="Group 76"/>
          <p:cNvGrpSpPr/>
          <p:nvPr/>
        </p:nvGrpSpPr>
        <p:grpSpPr>
          <a:xfrm>
            <a:off x="-329674" y="-59376"/>
            <a:ext cx="12515851" cy="6923798"/>
            <a:chOff x="-329674" y="-51881"/>
            <a:chExt cx="12515851" cy="6923798"/>
          </a:xfrm>
        </p:grpSpPr>
        <p:sp>
          <p:nvSpPr>
            <p:cNvPr id="78" name="Freeform 5"/>
            <p:cNvSpPr/>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9" name="Freeform 6"/>
            <p:cNvSpPr/>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0" name="Freeform 7"/>
            <p:cNvSpPr/>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1" name="Freeform 8"/>
            <p:cNvSpPr/>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Freeform 9"/>
            <p:cNvSpPr/>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10"/>
            <p:cNvSpPr/>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11"/>
            <p:cNvSpPr/>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2"/>
            <p:cNvSpPr/>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3"/>
            <p:cNvSpPr/>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7" name="Freeform 14"/>
            <p:cNvSpPr/>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8" name="Freeform 15"/>
            <p:cNvSpPr/>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89" name="Freeform 16"/>
            <p:cNvSpPr/>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0" name="Freeform 17"/>
            <p:cNvSpPr/>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18"/>
            <p:cNvSpPr/>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Freeform 19"/>
            <p:cNvSpPr/>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20"/>
            <p:cNvSpPr/>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21"/>
            <p:cNvSpPr/>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22"/>
            <p:cNvSpPr/>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6" name="Freeform 23"/>
            <p:cNvSpPr/>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9" name="Group 8"/>
          <p:cNvGrpSpPr/>
          <p:nvPr/>
        </p:nvGrpSpPr>
        <p:grpSpPr>
          <a:xfrm>
            <a:off x="3259545" y="1186483"/>
            <a:ext cx="5666145" cy="4477933"/>
            <a:chOff x="3259545" y="1186483"/>
            <a:chExt cx="5666145" cy="4477933"/>
          </a:xfrm>
        </p:grpSpPr>
        <p:sp>
          <p:nvSpPr>
            <p:cNvPr id="99" name="Rectangle 98"/>
            <p:cNvSpPr/>
            <p:nvPr/>
          </p:nvSpPr>
          <p:spPr>
            <a:xfrm>
              <a:off x="3259545" y="1186483"/>
              <a:ext cx="5657881" cy="7161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0" name="Isosceles Triangle 39"/>
            <p:cNvSpPr/>
            <p:nvPr/>
          </p:nvSpPr>
          <p:spPr>
            <a:xfrm rot="10800000">
              <a:off x="5892384" y="5313353"/>
              <a:ext cx="407233" cy="35106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1" name="Rectangle 100"/>
            <p:cNvSpPr/>
            <p:nvPr/>
          </p:nvSpPr>
          <p:spPr>
            <a:xfrm>
              <a:off x="3259545" y="1991156"/>
              <a:ext cx="5666145" cy="33221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3344216" y="2074730"/>
            <a:ext cx="5490224" cy="1689390"/>
          </a:xfrm>
        </p:spPr>
        <p:txBody>
          <a:bodyPr bIns="0" anchor="b">
            <a:normAutofit/>
          </a:bodyPr>
          <a:lstStyle>
            <a:lvl1pPr algn="ctr">
              <a:defRPr sz="4400">
                <a:solidFill>
                  <a:srgbClr val="FFFEFF"/>
                </a:solidFill>
              </a:defRPr>
            </a:lvl1pPr>
          </a:lstStyle>
          <a:p>
            <a:r>
              <a:rPr lang="en-US"/>
              <a:t>Click to edit Master title style</a:t>
            </a:r>
            <a:endParaRPr lang="en-US" dirty="0"/>
          </a:p>
        </p:txBody>
      </p:sp>
      <p:sp>
        <p:nvSpPr>
          <p:cNvPr id="3" name="Text Placeholder 2"/>
          <p:cNvSpPr>
            <a:spLocks noGrp="1"/>
          </p:cNvSpPr>
          <p:nvPr>
            <p:ph type="body" idx="1"/>
          </p:nvPr>
        </p:nvSpPr>
        <p:spPr>
          <a:xfrm>
            <a:off x="3344215" y="3846851"/>
            <a:ext cx="5490223" cy="1383770"/>
          </a:xfrm>
        </p:spPr>
        <p:txBody>
          <a:bodyPr tIns="0">
            <a:normAutofit/>
          </a:bodyPr>
          <a:lstStyle>
            <a:lvl1pPr marL="0" indent="0" algn="ctr">
              <a:buNone/>
              <a:defRPr sz="1800">
                <a:solidFill>
                  <a:srgbClr val="FFFEFF"/>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04672" y="320040"/>
            <a:ext cx="3657600" cy="320040"/>
          </a:xfrm>
        </p:spPr>
        <p:txBody>
          <a:bodyPr/>
          <a:lstStyle/>
          <a:p>
            <a:fld id="{87DE6118-2437-4B30-8E3C-4D2BE6020583}" type="datetimeFigureOut">
              <a:rPr lang="en-US" smtClean="0"/>
              <a:pPr/>
              <a:t>2/16/2025</a:t>
            </a:fld>
            <a:endParaRPr lang="en-US" dirty="0"/>
          </a:p>
        </p:txBody>
      </p:sp>
      <p:sp>
        <p:nvSpPr>
          <p:cNvPr id="5" name="Footer Placeholder 4"/>
          <p:cNvSpPr>
            <a:spLocks noGrp="1"/>
          </p:cNvSpPr>
          <p:nvPr>
            <p:ph type="ftr" sz="quarter" idx="11"/>
          </p:nvPr>
        </p:nvSpPr>
        <p:spPr>
          <a:xfrm>
            <a:off x="804672" y="6227064"/>
            <a:ext cx="10588752" cy="320040"/>
          </a:xfrm>
        </p:spPr>
        <p:txBody>
          <a:bodyPr/>
          <a:lstStyle>
            <a:lvl1pPr algn="ctr">
              <a:defRPr/>
            </a:lvl1pPr>
          </a:lstStyle>
          <a:p>
            <a:endParaRPr lang="en-US" dirty="0"/>
          </a:p>
        </p:txBody>
      </p:sp>
      <p:sp>
        <p:nvSpPr>
          <p:cNvPr id="6" name="Slide Number Placeholder 5"/>
          <p:cNvSpPr>
            <a:spLocks noGrp="1"/>
          </p:cNvSpPr>
          <p:nvPr>
            <p:ph type="sldNum" sz="quarter" idx="12"/>
          </p:nvPr>
        </p:nvSpPr>
        <p:spPr>
          <a:xfrm>
            <a:off x="10469880" y="320040"/>
            <a:ext cx="914400" cy="320040"/>
          </a:xfrm>
        </p:spPr>
        <p:txBody>
          <a:bodyPr/>
          <a:lstStyle/>
          <a:p>
            <a:fld id="{69E57DC2-970A-4B3E-BB1C-7A09969E49DF}" type="slidenum">
              <a:rPr lang="en-US" smtClean="0"/>
              <a:pPr/>
              <a:t>‹#›</a:t>
            </a:fld>
            <a:endParaRPr lang="en-US" dirty="0"/>
          </a:p>
        </p:txBody>
      </p:sp>
    </p:spTree>
    <p:extLst>
      <p:ext uri="{BB962C8B-B14F-4D97-AF65-F5344CB8AC3E}">
        <p14:creationId xmlns:p14="http://schemas.microsoft.com/office/powerpoint/2010/main" val="6166202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grpSp>
        <p:nvGrpSpPr>
          <p:cNvPr id="37" name="Group 36"/>
          <p:cNvGrpSpPr/>
          <p:nvPr/>
        </p:nvGrpSpPr>
        <p:grpSpPr>
          <a:xfrm>
            <a:off x="-417513" y="0"/>
            <a:ext cx="12584114" cy="6853238"/>
            <a:chOff x="-417513" y="0"/>
            <a:chExt cx="12584114" cy="6853238"/>
          </a:xfrm>
        </p:grpSpPr>
        <p:sp>
          <p:nvSpPr>
            <p:cNvPr id="38"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9"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0"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1"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2"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3"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4"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5"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6"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7"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8"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9"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0"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1"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2"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3"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54"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55"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6"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7"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8"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59" name="Group 58"/>
          <p:cNvGrpSpPr/>
          <p:nvPr/>
        </p:nvGrpSpPr>
        <p:grpSpPr>
          <a:xfrm>
            <a:off x="800144" y="1699589"/>
            <a:ext cx="3674476" cy="3470421"/>
            <a:chOff x="697883" y="1816768"/>
            <a:chExt cx="3674476" cy="3470421"/>
          </a:xfrm>
        </p:grpSpPr>
        <p:sp>
          <p:nvSpPr>
            <p:cNvPr id="60" name="Rectangle 59"/>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1"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2" name="Rectangle 61"/>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9000" y="2339669"/>
            <a:ext cx="3500828" cy="2470065"/>
          </a:xfrm>
        </p:spPr>
        <p:txBody>
          <a:bodyPr lIns="91440" tIns="91440" rIns="91440" bIns="91440"/>
          <a:lstStyle>
            <a:lvl1pPr>
              <a:defRPr>
                <a:solidFill>
                  <a:srgbClr val="FFFEFF"/>
                </a:solidFill>
              </a:defRPr>
            </a:lvl1pPr>
          </a:lstStyle>
          <a:p>
            <a:r>
              <a:rPr lang="en-US"/>
              <a:t>Click to edit Master title style</a:t>
            </a:r>
            <a:endParaRPr lang="en-US" dirty="0"/>
          </a:p>
        </p:txBody>
      </p:sp>
      <p:sp>
        <p:nvSpPr>
          <p:cNvPr id="3" name="Content Placeholder 2"/>
          <p:cNvSpPr>
            <a:spLocks noGrp="1"/>
          </p:cNvSpPr>
          <p:nvPr>
            <p:ph sz="half" idx="1"/>
          </p:nvPr>
        </p:nvSpPr>
        <p:spPr>
          <a:xfrm>
            <a:off x="5120878" y="803187"/>
            <a:ext cx="6269591" cy="23826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118447" y="3672162"/>
            <a:ext cx="6272022" cy="238358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a:xfrm>
            <a:off x="804672" y="320040"/>
            <a:ext cx="3657600" cy="320040"/>
          </a:xfrm>
        </p:spPr>
        <p:txBody>
          <a:bodyPr/>
          <a:lstStyle/>
          <a:p>
            <a:fld id="{87DE6118-2437-4B30-8E3C-4D2BE6020583}" type="datetimeFigureOut">
              <a:rPr lang="en-US" smtClean="0"/>
              <a:t>2/16/2025</a:t>
            </a:fld>
            <a:endParaRPr lang="en-US" dirty="0"/>
          </a:p>
        </p:txBody>
      </p:sp>
      <p:sp>
        <p:nvSpPr>
          <p:cNvPr id="6" name="Footer Placeholder 5"/>
          <p:cNvSpPr>
            <a:spLocks noGrp="1"/>
          </p:cNvSpPr>
          <p:nvPr>
            <p:ph type="ftr" sz="quarter" idx="11"/>
          </p:nvPr>
        </p:nvSpPr>
        <p:spPr>
          <a:xfrm>
            <a:off x="804672" y="6227064"/>
            <a:ext cx="10588752" cy="320040"/>
          </a:xfrm>
        </p:spPr>
        <p:txBody>
          <a:bodyPr/>
          <a:lstStyle/>
          <a:p>
            <a:endParaRPr lang="en-US" dirty="0"/>
          </a:p>
        </p:txBody>
      </p:sp>
      <p:sp>
        <p:nvSpPr>
          <p:cNvPr id="7" name="Slide Number Placeholder 6"/>
          <p:cNvSpPr>
            <a:spLocks noGrp="1"/>
          </p:cNvSpPr>
          <p:nvPr>
            <p:ph type="sldNum" sz="quarter" idx="12"/>
          </p:nvPr>
        </p:nvSpPr>
        <p:spPr>
          <a:xfrm>
            <a:off x="10469880" y="320040"/>
            <a:ext cx="914400" cy="320040"/>
          </a:xfrm>
        </p:spPr>
        <p:txBody>
          <a:bodyPr/>
          <a:lstStyle/>
          <a:p>
            <a:fld id="{69E57DC2-970A-4B3E-BB1C-7A09969E49DF}" type="slidenum">
              <a:rPr lang="en-US" smtClean="0"/>
              <a:t>‹#›</a:t>
            </a:fld>
            <a:endParaRPr lang="en-US" dirty="0"/>
          </a:p>
        </p:txBody>
      </p:sp>
    </p:spTree>
    <p:extLst>
      <p:ext uri="{BB962C8B-B14F-4D97-AF65-F5344CB8AC3E}">
        <p14:creationId xmlns:p14="http://schemas.microsoft.com/office/powerpoint/2010/main" val="19620337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grpSp>
        <p:nvGrpSpPr>
          <p:cNvPr id="39" name="Group 38"/>
          <p:cNvGrpSpPr/>
          <p:nvPr/>
        </p:nvGrpSpPr>
        <p:grpSpPr>
          <a:xfrm>
            <a:off x="-417513" y="0"/>
            <a:ext cx="12584114" cy="6853238"/>
            <a:chOff x="-417513" y="0"/>
            <a:chExt cx="12584114" cy="6853238"/>
          </a:xfrm>
        </p:grpSpPr>
        <p:sp>
          <p:nvSpPr>
            <p:cNvPr id="40"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1"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2"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3"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4"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5"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6"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7"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8"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9"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0"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1"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2"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3"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4"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5"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56"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57"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8"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9"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60"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61" name="Group 60"/>
          <p:cNvGrpSpPr/>
          <p:nvPr/>
        </p:nvGrpSpPr>
        <p:grpSpPr>
          <a:xfrm>
            <a:off x="800144" y="1699589"/>
            <a:ext cx="3674476" cy="3470421"/>
            <a:chOff x="697883" y="1816768"/>
            <a:chExt cx="3674476" cy="3470421"/>
          </a:xfrm>
        </p:grpSpPr>
        <p:sp>
          <p:nvSpPr>
            <p:cNvPr id="62" name="Rectangle 61"/>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3"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4" name="Rectangle 63"/>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9001" y="2363915"/>
            <a:ext cx="3500828" cy="2460497"/>
          </a:xfrm>
        </p:spPr>
        <p:txBody>
          <a:bodyPr lIns="91440" tIns="91440" rIns="91440" bIns="91440"/>
          <a:lstStyle>
            <a:lvl1pPr>
              <a:defRPr>
                <a:solidFill>
                  <a:srgbClr val="FFFEFF"/>
                </a:solidFill>
              </a:defRPr>
            </a:lvl1pPr>
          </a:lstStyle>
          <a:p>
            <a:r>
              <a:rPr lang="en-US"/>
              <a:t>Click to edit Master title style</a:t>
            </a:r>
            <a:endParaRPr lang="en-US" dirty="0"/>
          </a:p>
        </p:txBody>
      </p:sp>
      <p:sp>
        <p:nvSpPr>
          <p:cNvPr id="3" name="Text Placeholder 2"/>
          <p:cNvSpPr>
            <a:spLocks noGrp="1"/>
          </p:cNvSpPr>
          <p:nvPr>
            <p:ph type="body" idx="1"/>
          </p:nvPr>
        </p:nvSpPr>
        <p:spPr>
          <a:xfrm>
            <a:off x="5125137" y="803185"/>
            <a:ext cx="6265088" cy="685800"/>
          </a:xfrm>
        </p:spPr>
        <p:txBody>
          <a:bodyPr anchor="ctr">
            <a:noAutofit/>
          </a:bodyPr>
          <a:lstStyle>
            <a:lvl1pPr marL="0" indent="0" algn="l">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125305" y="1488985"/>
            <a:ext cx="6264350" cy="169685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118653" y="3665887"/>
            <a:ext cx="6264414" cy="685800"/>
          </a:xfrm>
        </p:spPr>
        <p:txBody>
          <a:bodyPr anchor="ctr">
            <a:noAutofit/>
          </a:bodyPr>
          <a:lstStyle>
            <a:lvl1pPr marL="0" indent="0" algn="l">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118447" y="4351687"/>
            <a:ext cx="6265588" cy="17040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a:xfrm>
            <a:off x="804672" y="320040"/>
            <a:ext cx="3657600" cy="320040"/>
          </a:xfrm>
        </p:spPr>
        <p:txBody>
          <a:bodyPr/>
          <a:lstStyle/>
          <a:p>
            <a:fld id="{87DE6118-2437-4B30-8E3C-4D2BE6020583}" type="datetimeFigureOut">
              <a:rPr lang="en-US" smtClean="0"/>
              <a:t>2/16/2025</a:t>
            </a:fld>
            <a:endParaRPr lang="en-US" dirty="0"/>
          </a:p>
        </p:txBody>
      </p:sp>
      <p:sp>
        <p:nvSpPr>
          <p:cNvPr id="8" name="Footer Placeholder 7"/>
          <p:cNvSpPr>
            <a:spLocks noGrp="1"/>
          </p:cNvSpPr>
          <p:nvPr>
            <p:ph type="ftr" sz="quarter" idx="11"/>
          </p:nvPr>
        </p:nvSpPr>
        <p:spPr>
          <a:xfrm>
            <a:off x="804672" y="6227064"/>
            <a:ext cx="10588752" cy="320040"/>
          </a:xfrm>
        </p:spPr>
        <p:txBody>
          <a:bodyPr/>
          <a:lstStyle/>
          <a:p>
            <a:endParaRPr lang="en-US" dirty="0"/>
          </a:p>
        </p:txBody>
      </p:sp>
      <p:sp>
        <p:nvSpPr>
          <p:cNvPr id="9" name="Slide Number Placeholder 8"/>
          <p:cNvSpPr>
            <a:spLocks noGrp="1"/>
          </p:cNvSpPr>
          <p:nvPr>
            <p:ph type="sldNum" sz="quarter" idx="12"/>
          </p:nvPr>
        </p:nvSpPr>
        <p:spPr>
          <a:xfrm>
            <a:off x="10469880" y="320040"/>
            <a:ext cx="914400" cy="320040"/>
          </a:xfrm>
        </p:spPr>
        <p:txBody>
          <a:bodyPr/>
          <a:lstStyle/>
          <a:p>
            <a:fld id="{69E57DC2-970A-4B3E-BB1C-7A09969E49DF}" type="slidenum">
              <a:rPr lang="en-US" smtClean="0"/>
              <a:t>‹#›</a:t>
            </a:fld>
            <a:endParaRPr lang="en-US" dirty="0"/>
          </a:p>
        </p:txBody>
      </p:sp>
    </p:spTree>
    <p:extLst>
      <p:ext uri="{BB962C8B-B14F-4D97-AF65-F5344CB8AC3E}">
        <p14:creationId xmlns:p14="http://schemas.microsoft.com/office/powerpoint/2010/main" val="26110518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grpSp>
        <p:nvGrpSpPr>
          <p:cNvPr id="77" name="Group 76"/>
          <p:cNvGrpSpPr/>
          <p:nvPr/>
        </p:nvGrpSpPr>
        <p:grpSpPr>
          <a:xfrm>
            <a:off x="-417513" y="0"/>
            <a:ext cx="12584114" cy="6853238"/>
            <a:chOff x="-417513" y="0"/>
            <a:chExt cx="12584114" cy="6853238"/>
          </a:xfrm>
        </p:grpSpPr>
        <p:sp>
          <p:nvSpPr>
            <p:cNvPr id="78"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9"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0"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1"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2"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3"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4"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4"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5"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7"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8"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4" name="Group 23"/>
          <p:cNvGrpSpPr/>
          <p:nvPr/>
        </p:nvGrpSpPr>
        <p:grpSpPr>
          <a:xfrm>
            <a:off x="800144" y="1699589"/>
            <a:ext cx="3674476" cy="3470421"/>
            <a:chOff x="697883" y="1816768"/>
            <a:chExt cx="3674476" cy="3470421"/>
          </a:xfrm>
        </p:grpSpPr>
        <p:sp>
          <p:nvSpPr>
            <p:cNvPr id="25" name="Rectangle 24"/>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6"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7" name="Rectangle 26"/>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8632" y="2349925"/>
            <a:ext cx="3501196" cy="2456442"/>
          </a:xfrm>
        </p:spPr>
        <p:txBody>
          <a:bodyPr/>
          <a:lstStyle>
            <a:lvl1pPr>
              <a:defRPr>
                <a:solidFill>
                  <a:srgbClr val="FFFEFF"/>
                </a:solidFill>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7DE6118-2437-4B30-8E3C-4D2BE6020583}" type="datetimeFigureOut">
              <a:rPr lang="en-US" smtClean="0"/>
              <a:t>2/16/2025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9E57DC2-970A-4B3E-BB1C-7A09969E49DF}" type="slidenum">
              <a:rPr lang="en-US" smtClean="0"/>
              <a:t>‹#›</a:t>
            </a:fld>
            <a:endParaRPr lang="en-US" dirty="0"/>
          </a:p>
        </p:txBody>
      </p:sp>
    </p:spTree>
    <p:extLst>
      <p:ext uri="{BB962C8B-B14F-4D97-AF65-F5344CB8AC3E}">
        <p14:creationId xmlns:p14="http://schemas.microsoft.com/office/powerpoint/2010/main" val="40503987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04672" y="320040"/>
            <a:ext cx="3657600" cy="320040"/>
          </a:xfrm>
        </p:spPr>
        <p:txBody>
          <a:bodyPr/>
          <a:lstStyle/>
          <a:p>
            <a:fld id="{87DE6118-2437-4B30-8E3C-4D2BE6020583}" type="datetimeFigureOut">
              <a:rPr lang="en-US" smtClean="0"/>
              <a:t>2/16/2025</a:t>
            </a:fld>
            <a:endParaRPr lang="en-US" dirty="0"/>
          </a:p>
        </p:txBody>
      </p:sp>
      <p:sp>
        <p:nvSpPr>
          <p:cNvPr id="3" name="Footer Placeholder 2"/>
          <p:cNvSpPr>
            <a:spLocks noGrp="1"/>
          </p:cNvSpPr>
          <p:nvPr>
            <p:ph type="ftr" sz="quarter" idx="11"/>
          </p:nvPr>
        </p:nvSpPr>
        <p:spPr>
          <a:xfrm>
            <a:off x="804672" y="6227064"/>
            <a:ext cx="10588752" cy="320040"/>
          </a:xfrm>
        </p:spPr>
        <p:txBody>
          <a:bodyPr/>
          <a:lstStyle/>
          <a:p>
            <a:endParaRPr lang="en-US" dirty="0"/>
          </a:p>
        </p:txBody>
      </p:sp>
      <p:sp>
        <p:nvSpPr>
          <p:cNvPr id="4" name="Slide Number Placeholder 3"/>
          <p:cNvSpPr>
            <a:spLocks noGrp="1"/>
          </p:cNvSpPr>
          <p:nvPr>
            <p:ph type="sldNum" sz="quarter" idx="12"/>
          </p:nvPr>
        </p:nvSpPr>
        <p:spPr>
          <a:xfrm>
            <a:off x="10469880" y="320040"/>
            <a:ext cx="914400" cy="320040"/>
          </a:xfrm>
        </p:spPr>
        <p:txBody>
          <a:bodyPr/>
          <a:lstStyle/>
          <a:p>
            <a:fld id="{69E57DC2-970A-4B3E-BB1C-7A09969E49DF}" type="slidenum">
              <a:rPr lang="en-US" smtClean="0"/>
              <a:t>‹#›</a:t>
            </a:fld>
            <a:endParaRPr lang="en-US" dirty="0"/>
          </a:p>
        </p:txBody>
      </p:sp>
    </p:spTree>
    <p:extLst>
      <p:ext uri="{BB962C8B-B14F-4D97-AF65-F5344CB8AC3E}">
        <p14:creationId xmlns:p14="http://schemas.microsoft.com/office/powerpoint/2010/main" val="4668780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grpSp>
        <p:nvGrpSpPr>
          <p:cNvPr id="74" name="Group 73"/>
          <p:cNvGrpSpPr/>
          <p:nvPr/>
        </p:nvGrpSpPr>
        <p:grpSpPr>
          <a:xfrm>
            <a:off x="-417513" y="0"/>
            <a:ext cx="12584114" cy="6853238"/>
            <a:chOff x="-417513" y="0"/>
            <a:chExt cx="12584114" cy="6853238"/>
          </a:xfrm>
        </p:grpSpPr>
        <p:sp>
          <p:nvSpPr>
            <p:cNvPr id="75"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6"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7"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8"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79"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0"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1"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1"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2"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1" name="Group 20"/>
          <p:cNvGrpSpPr/>
          <p:nvPr/>
        </p:nvGrpSpPr>
        <p:grpSpPr>
          <a:xfrm>
            <a:off x="800144" y="1699589"/>
            <a:ext cx="3674476" cy="3470421"/>
            <a:chOff x="697883" y="1816768"/>
            <a:chExt cx="3674476" cy="3470421"/>
          </a:xfrm>
        </p:grpSpPr>
        <p:sp>
          <p:nvSpPr>
            <p:cNvPr id="22" name="Rectangle 21"/>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2"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3" name="Rectangle 32"/>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8631" y="2352026"/>
            <a:ext cx="3501197" cy="1223298"/>
          </a:xfrm>
        </p:spPr>
        <p:txBody>
          <a:bodyPr bIns="0" anchor="b">
            <a:noAutofit/>
          </a:bodyPr>
          <a:lstStyle>
            <a:lvl1pPr algn="ctr">
              <a:defRPr sz="3200">
                <a:solidFill>
                  <a:srgbClr val="FFFEFF"/>
                </a:solidFill>
              </a:defRPr>
            </a:lvl1pPr>
          </a:lstStyle>
          <a:p>
            <a:r>
              <a:rPr lang="en-US"/>
              <a:t>Click to edit Master title style</a:t>
            </a:r>
            <a:endParaRPr lang="en-US" dirty="0"/>
          </a:p>
        </p:txBody>
      </p:sp>
      <p:sp>
        <p:nvSpPr>
          <p:cNvPr id="3" name="Content Placeholder 2"/>
          <p:cNvSpPr>
            <a:spLocks noGrp="1"/>
          </p:cNvSpPr>
          <p:nvPr>
            <p:ph idx="1"/>
          </p:nvPr>
        </p:nvSpPr>
        <p:spPr>
          <a:xfrm>
            <a:off x="5109983" y="802809"/>
            <a:ext cx="6275035" cy="524994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88631" y="3580186"/>
            <a:ext cx="3501197" cy="1221164"/>
          </a:xfrm>
        </p:spPr>
        <p:txBody>
          <a:bodyPr/>
          <a:lstStyle>
            <a:lvl1pPr marL="0" indent="0" algn="ctr">
              <a:buNone/>
              <a:defRPr sz="1600">
                <a:solidFill>
                  <a:srgbClr val="FFFE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7DE6118-2437-4B30-8E3C-4D2BE6020583}" type="datetimeFigureOut">
              <a:rPr lang="en-US" smtClean="0"/>
              <a:pPr/>
              <a:t>2/16/2025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9E57DC2-970A-4B3E-BB1C-7A09969E49DF}" type="slidenum">
              <a:rPr lang="en-US" smtClean="0"/>
              <a:pPr/>
              <a:t>‹#›</a:t>
            </a:fld>
            <a:endParaRPr lang="en-US" dirty="0"/>
          </a:p>
        </p:txBody>
      </p:sp>
    </p:spTree>
    <p:extLst>
      <p:ext uri="{BB962C8B-B14F-4D97-AF65-F5344CB8AC3E}">
        <p14:creationId xmlns:p14="http://schemas.microsoft.com/office/powerpoint/2010/main" val="35878088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73" name="Group 72"/>
          <p:cNvGrpSpPr/>
          <p:nvPr/>
        </p:nvGrpSpPr>
        <p:grpSpPr>
          <a:xfrm>
            <a:off x="-329674" y="-59376"/>
            <a:ext cx="12515851" cy="6923798"/>
            <a:chOff x="-329674" y="-51881"/>
            <a:chExt cx="12515851" cy="6923798"/>
          </a:xfrm>
        </p:grpSpPr>
        <p:sp>
          <p:nvSpPr>
            <p:cNvPr id="81" name="Freeform 5"/>
            <p:cNvSpPr/>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Freeform 6"/>
            <p:cNvSpPr/>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7"/>
            <p:cNvSpPr/>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4" name="Freeform 8"/>
            <p:cNvSpPr/>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9"/>
            <p:cNvSpPr/>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0"/>
            <p:cNvSpPr/>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1"/>
            <p:cNvSpPr/>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2"/>
            <p:cNvSpPr/>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3"/>
            <p:cNvSpPr/>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0" name="Freeform 14"/>
            <p:cNvSpPr/>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1" name="Freeform 15"/>
            <p:cNvSpPr/>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2" name="Freeform 16"/>
            <p:cNvSpPr/>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3" name="Freeform 17"/>
            <p:cNvSpPr/>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18"/>
            <p:cNvSpPr/>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19"/>
            <p:cNvSpPr/>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0"/>
            <p:cNvSpPr/>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7" name="Freeform 21"/>
            <p:cNvSpPr/>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8" name="Freeform 22"/>
            <p:cNvSpPr/>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9" name="Freeform 23"/>
            <p:cNvSpPr/>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76" name="Group 75"/>
          <p:cNvGrpSpPr/>
          <p:nvPr/>
        </p:nvGrpSpPr>
        <p:grpSpPr>
          <a:xfrm>
            <a:off x="805336" y="1698331"/>
            <a:ext cx="5941540" cy="3470421"/>
            <a:chOff x="805336" y="1698331"/>
            <a:chExt cx="5941540" cy="3470421"/>
          </a:xfrm>
        </p:grpSpPr>
        <p:sp>
          <p:nvSpPr>
            <p:cNvPr id="77" name="Rectangle 76"/>
            <p:cNvSpPr/>
            <p:nvPr/>
          </p:nvSpPr>
          <p:spPr>
            <a:xfrm>
              <a:off x="805336" y="1698331"/>
              <a:ext cx="5941540"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8" name="Isosceles Triangle 9"/>
            <p:cNvSpPr/>
            <p:nvPr/>
          </p:nvSpPr>
          <p:spPr>
            <a:xfrm rot="10800000">
              <a:off x="3618113" y="4896349"/>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9" name="Rectangle 78"/>
            <p:cNvSpPr/>
            <p:nvPr/>
          </p:nvSpPr>
          <p:spPr>
            <a:xfrm>
              <a:off x="805336" y="2274403"/>
              <a:ext cx="5941540"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3" name="Picture Placeholder 2"/>
          <p:cNvSpPr>
            <a:spLocks noGrp="1" noChangeAspect="1"/>
          </p:cNvSpPr>
          <p:nvPr>
            <p:ph type="pic" idx="1"/>
          </p:nvPr>
        </p:nvSpPr>
        <p:spPr>
          <a:xfrm>
            <a:off x="7543510" y="0"/>
            <a:ext cx="4648490" cy="6858000"/>
          </a:xfrm>
          <a:solidFill>
            <a:schemeClr val="bg1">
              <a:lumMod val="65000"/>
              <a:lumOff val="3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 name="Title 1"/>
          <p:cNvSpPr>
            <a:spLocks noGrp="1"/>
          </p:cNvSpPr>
          <p:nvPr>
            <p:ph type="title"/>
          </p:nvPr>
        </p:nvSpPr>
        <p:spPr>
          <a:xfrm>
            <a:off x="885443" y="2360255"/>
            <a:ext cx="5776646" cy="1178032"/>
          </a:xfrm>
        </p:spPr>
        <p:txBody>
          <a:bodyPr bIns="0" anchor="b">
            <a:normAutofit/>
          </a:bodyPr>
          <a:lstStyle>
            <a:lvl1pPr>
              <a:defRPr sz="3600">
                <a:solidFill>
                  <a:srgbClr val="FFFE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885443" y="3545012"/>
            <a:ext cx="5776646" cy="1274198"/>
          </a:xfrm>
        </p:spPr>
        <p:txBody>
          <a:bodyPr>
            <a:normAutofit/>
          </a:bodyPr>
          <a:lstStyle>
            <a:lvl1pPr marL="0" indent="0" algn="ctr">
              <a:buNone/>
              <a:defRPr sz="1800">
                <a:solidFill>
                  <a:srgbClr val="FFFE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04672" y="320040"/>
            <a:ext cx="3657600" cy="320040"/>
          </a:xfrm>
        </p:spPr>
        <p:txBody>
          <a:bodyPr/>
          <a:lstStyle/>
          <a:p>
            <a:fld id="{87DE6118-2437-4B30-8E3C-4D2BE6020583}" type="datetimeFigureOut">
              <a:rPr lang="en-US" smtClean="0"/>
              <a:pPr/>
              <a:t>2/16/2025</a:t>
            </a:fld>
            <a:endParaRPr lang="en-US" dirty="0"/>
          </a:p>
        </p:txBody>
      </p:sp>
      <p:sp>
        <p:nvSpPr>
          <p:cNvPr id="6" name="Footer Placeholder 5"/>
          <p:cNvSpPr>
            <a:spLocks noGrp="1"/>
          </p:cNvSpPr>
          <p:nvPr>
            <p:ph type="ftr" sz="quarter" idx="11"/>
          </p:nvPr>
        </p:nvSpPr>
        <p:spPr>
          <a:xfrm>
            <a:off x="804672" y="6227064"/>
            <a:ext cx="5942203" cy="320040"/>
          </a:xfrm>
        </p:spPr>
        <p:txBody>
          <a:bodyPr/>
          <a:lstStyle/>
          <a:p>
            <a:endParaRPr lang="en-US" dirty="0"/>
          </a:p>
        </p:txBody>
      </p:sp>
      <p:sp>
        <p:nvSpPr>
          <p:cNvPr id="7" name="Slide Number Placeholder 6"/>
          <p:cNvSpPr>
            <a:spLocks noGrp="1"/>
          </p:cNvSpPr>
          <p:nvPr>
            <p:ph type="sldNum" sz="quarter" idx="12"/>
          </p:nvPr>
        </p:nvSpPr>
        <p:spPr>
          <a:xfrm>
            <a:off x="5828377" y="320040"/>
            <a:ext cx="914400" cy="320040"/>
          </a:xfrm>
        </p:spPr>
        <p:txBody>
          <a:bodyPr/>
          <a:lstStyle/>
          <a:p>
            <a:fld id="{69E57DC2-970A-4B3E-BB1C-7A09969E49DF}" type="slidenum">
              <a:rPr lang="en-US" smtClean="0"/>
              <a:pPr/>
              <a:t>‹#›</a:t>
            </a:fld>
            <a:endParaRPr lang="en-US" dirty="0"/>
          </a:p>
        </p:txBody>
      </p:sp>
    </p:spTree>
    <p:extLst>
      <p:ext uri="{BB962C8B-B14F-4D97-AF65-F5344CB8AC3E}">
        <p14:creationId xmlns:p14="http://schemas.microsoft.com/office/powerpoint/2010/main" val="35762577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grpSp>
        <p:nvGrpSpPr>
          <p:cNvPr id="75" name="Group 74"/>
          <p:cNvGrpSpPr/>
          <p:nvPr/>
        </p:nvGrpSpPr>
        <p:grpSpPr>
          <a:xfrm>
            <a:off x="-417513" y="0"/>
            <a:ext cx="12584114" cy="6853238"/>
            <a:chOff x="-417513" y="0"/>
            <a:chExt cx="12584114" cy="6853238"/>
          </a:xfrm>
        </p:grpSpPr>
        <p:sp>
          <p:nvSpPr>
            <p:cNvPr id="76"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7"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8"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9"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0"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1"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2"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2"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3"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2" name="Group 21"/>
          <p:cNvGrpSpPr/>
          <p:nvPr/>
        </p:nvGrpSpPr>
        <p:grpSpPr>
          <a:xfrm>
            <a:off x="800144" y="1699589"/>
            <a:ext cx="3674476" cy="3470421"/>
            <a:chOff x="697883" y="1816768"/>
            <a:chExt cx="3674476" cy="3470421"/>
          </a:xfrm>
        </p:grpSpPr>
        <p:sp>
          <p:nvSpPr>
            <p:cNvPr id="23" name="Rectangle 22"/>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4"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Rectangle 24"/>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8632" y="2349925"/>
            <a:ext cx="3501196" cy="2456441"/>
          </a:xfrm>
        </p:spPr>
        <p:txBody>
          <a:bodyPr/>
          <a:lstStyle>
            <a:lvl1pPr>
              <a:defRPr>
                <a:solidFill>
                  <a:srgbClr val="FFFE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5109983" y="794719"/>
            <a:ext cx="6275035" cy="52570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smtClean="0"/>
              <a:t>2/16/2025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smtClean="0"/>
              <a:t>‹#›</a:t>
            </a:fld>
            <a:endParaRPr lang="en-US" dirty="0"/>
          </a:p>
        </p:txBody>
      </p:sp>
    </p:spTree>
    <p:extLst>
      <p:ext uri="{BB962C8B-B14F-4D97-AF65-F5344CB8AC3E}">
        <p14:creationId xmlns:p14="http://schemas.microsoft.com/office/powerpoint/2010/main" val="21637972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grpSp>
        <p:nvGrpSpPr>
          <p:cNvPr id="75" name="Group 74"/>
          <p:cNvGrpSpPr/>
          <p:nvPr/>
        </p:nvGrpSpPr>
        <p:grpSpPr>
          <a:xfrm flipH="1">
            <a:off x="0" y="0"/>
            <a:ext cx="12584114" cy="6853238"/>
            <a:chOff x="-417513" y="0"/>
            <a:chExt cx="12584114" cy="6853238"/>
          </a:xfrm>
        </p:grpSpPr>
        <p:sp>
          <p:nvSpPr>
            <p:cNvPr id="76"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7"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8"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9"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0"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1"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2"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2"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3"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2" name="Group 21"/>
          <p:cNvGrpSpPr/>
          <p:nvPr/>
        </p:nvGrpSpPr>
        <p:grpSpPr>
          <a:xfrm>
            <a:off x="7718948" y="1699589"/>
            <a:ext cx="3674476" cy="3470421"/>
            <a:chOff x="697883" y="1816768"/>
            <a:chExt cx="3674476" cy="3470421"/>
          </a:xfrm>
        </p:grpSpPr>
        <p:sp>
          <p:nvSpPr>
            <p:cNvPr id="23" name="Rectangle 22"/>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4"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Rectangle 24"/>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Vertical Title 1"/>
          <p:cNvSpPr>
            <a:spLocks noGrp="1"/>
          </p:cNvSpPr>
          <p:nvPr>
            <p:ph type="title" orient="vert"/>
          </p:nvPr>
        </p:nvSpPr>
        <p:spPr>
          <a:xfrm>
            <a:off x="7807437" y="2349925"/>
            <a:ext cx="3501195" cy="2456442"/>
          </a:xfrm>
        </p:spPr>
        <p:txBody>
          <a:bodyPr vert="eaVert"/>
          <a:lstStyle>
            <a:lvl1pPr algn="l">
              <a:lnSpc>
                <a:spcPct val="80000"/>
              </a:lnSpc>
              <a:defRPr>
                <a:solidFill>
                  <a:srgbClr val="FFFE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802747" y="798444"/>
            <a:ext cx="6268622" cy="525730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04672" y="320040"/>
            <a:ext cx="3657600" cy="320040"/>
          </a:xfrm>
        </p:spPr>
        <p:txBody>
          <a:bodyPr/>
          <a:lstStyle/>
          <a:p>
            <a:fld id="{87DE6118-2437-4B30-8E3C-4D2BE6020583}" type="datetimeFigureOut">
              <a:rPr lang="en-US" smtClean="0"/>
              <a:t>2/16/2025</a:t>
            </a:fld>
            <a:endParaRPr lang="en-US" dirty="0"/>
          </a:p>
        </p:txBody>
      </p:sp>
      <p:sp>
        <p:nvSpPr>
          <p:cNvPr id="5" name="Footer Placeholder 4"/>
          <p:cNvSpPr>
            <a:spLocks noGrp="1"/>
          </p:cNvSpPr>
          <p:nvPr>
            <p:ph type="ftr" sz="quarter" idx="11"/>
          </p:nvPr>
        </p:nvSpPr>
        <p:spPr>
          <a:xfrm>
            <a:off x="804672" y="6227064"/>
            <a:ext cx="10588752" cy="320040"/>
          </a:xfrm>
        </p:spPr>
        <p:txBody>
          <a:bodyPr/>
          <a:lstStyle/>
          <a:p>
            <a:endParaRPr lang="en-US" dirty="0"/>
          </a:p>
        </p:txBody>
      </p:sp>
      <p:sp>
        <p:nvSpPr>
          <p:cNvPr id="6" name="Slide Number Placeholder 5"/>
          <p:cNvSpPr>
            <a:spLocks noGrp="1"/>
          </p:cNvSpPr>
          <p:nvPr>
            <p:ph type="sldNum" sz="quarter" idx="12"/>
          </p:nvPr>
        </p:nvSpPr>
        <p:spPr>
          <a:xfrm>
            <a:off x="10469880" y="320040"/>
            <a:ext cx="914400" cy="320040"/>
          </a:xfrm>
        </p:spPr>
        <p:txBody>
          <a:bodyPr/>
          <a:lstStyle/>
          <a:p>
            <a:fld id="{69E57DC2-970A-4B3E-BB1C-7A09969E49DF}" type="slidenum">
              <a:rPr lang="en-US" smtClean="0"/>
              <a:t>‹#›</a:t>
            </a:fld>
            <a:endParaRPr lang="en-US" dirty="0"/>
          </a:p>
        </p:txBody>
      </p:sp>
    </p:spTree>
    <p:extLst>
      <p:ext uri="{BB962C8B-B14F-4D97-AF65-F5344CB8AC3E}">
        <p14:creationId xmlns:p14="http://schemas.microsoft.com/office/powerpoint/2010/main" val="29489726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91161" y="2358391"/>
            <a:ext cx="3498667" cy="2456485"/>
          </a:xfrm>
          <a:prstGeom prst="rect">
            <a:avLst/>
          </a:prstGeom>
        </p:spPr>
        <p:txBody>
          <a:bodyPr vert="horz" lIns="228600" tIns="228600" rIns="228600" bIns="22860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5434982" y="794719"/>
            <a:ext cx="5950036" cy="525709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04672" y="320040"/>
            <a:ext cx="3657600" cy="320040"/>
          </a:xfrm>
          <a:prstGeom prst="rect">
            <a:avLst/>
          </a:prstGeom>
        </p:spPr>
        <p:txBody>
          <a:bodyPr vert="horz" lIns="91440" tIns="45720" rIns="91440" bIns="45720" rtlCol="0" anchor="ctr"/>
          <a:lstStyle>
            <a:lvl1pPr algn="l">
              <a:defRPr sz="1000">
                <a:solidFill>
                  <a:schemeClr val="tx1">
                    <a:tint val="75000"/>
                  </a:schemeClr>
                </a:solidFill>
              </a:defRPr>
            </a:lvl1pPr>
          </a:lstStyle>
          <a:p>
            <a:fld id="{87DE6118-2437-4B30-8E3C-4D2BE6020583}" type="datetimeFigureOut">
              <a:rPr lang="en-US" smtClean="0"/>
              <a:pPr/>
              <a:t>2/16/2025</a:t>
            </a:fld>
            <a:endParaRPr lang="en-US" dirty="0"/>
          </a:p>
        </p:txBody>
      </p:sp>
      <p:sp>
        <p:nvSpPr>
          <p:cNvPr id="5" name="Footer Placeholder 4"/>
          <p:cNvSpPr>
            <a:spLocks noGrp="1"/>
          </p:cNvSpPr>
          <p:nvPr>
            <p:ph type="ftr" sz="quarter" idx="3"/>
          </p:nvPr>
        </p:nvSpPr>
        <p:spPr>
          <a:xfrm>
            <a:off x="804672" y="6227064"/>
            <a:ext cx="10588752" cy="320040"/>
          </a:xfrm>
          <a:prstGeom prst="rect">
            <a:avLst/>
          </a:prstGeom>
        </p:spPr>
        <p:txBody>
          <a:bodyPr vert="horz" lIns="91440" tIns="45720" rIns="91440" bIns="45720" rtlCol="0" anchor="ctr"/>
          <a:lstStyle>
            <a:lvl1pPr algn="r">
              <a:defRPr sz="10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469880" y="320040"/>
            <a:ext cx="914400" cy="320040"/>
          </a:xfrm>
          <a:prstGeom prst="rect">
            <a:avLst/>
          </a:prstGeom>
        </p:spPr>
        <p:txBody>
          <a:bodyPr vert="horz" lIns="91440" tIns="45720" rIns="91440" bIns="45720" rtlCol="0" anchor="ctr"/>
          <a:lstStyle>
            <a:lvl1pPr algn="r">
              <a:defRPr sz="1000">
                <a:solidFill>
                  <a:schemeClr val="tx1">
                    <a:tint val="75000"/>
                  </a:schemeClr>
                </a:solidFill>
              </a:defRPr>
            </a:lvl1pPr>
          </a:lstStyle>
          <a:p>
            <a:fld id="{69E57DC2-970A-4B3E-BB1C-7A09969E49DF}" type="slidenum">
              <a:rPr lang="en-US" smtClean="0"/>
              <a:pPr/>
              <a:t>‹#›</a:t>
            </a:fld>
            <a:endParaRPr lang="en-US" dirty="0"/>
          </a:p>
        </p:txBody>
      </p:sp>
    </p:spTree>
    <p:extLst>
      <p:ext uri="{BB962C8B-B14F-4D97-AF65-F5344CB8AC3E}">
        <p14:creationId xmlns:p14="http://schemas.microsoft.com/office/powerpoint/2010/main" val="3760231437"/>
      </p:ext>
    </p:extLst>
  </p:cSld>
  <p:clrMap bg1="lt1" tx1="dk1" bg2="lt2" tx2="dk2" accent1="accent1" accent2="accent2" accent3="accent3" accent4="accent4" accent5="accent5" accent6="accent6" hlink="hlink" folHlink="folHlink"/>
  <p:sldLayoutIdLst>
    <p:sldLayoutId id="2147483848" r:id="rId1"/>
    <p:sldLayoutId id="2147483849" r:id="rId2"/>
    <p:sldLayoutId id="2147483850" r:id="rId3"/>
    <p:sldLayoutId id="2147483851" r:id="rId4"/>
    <p:sldLayoutId id="2147483852" r:id="rId5"/>
    <p:sldLayoutId id="2147483853" r:id="rId6"/>
    <p:sldLayoutId id="2147483854" r:id="rId7"/>
    <p:sldLayoutId id="2147483855" r:id="rId8"/>
    <p:sldLayoutId id="2147483856" r:id="rId9"/>
    <p:sldLayoutId id="2147483857" r:id="rId10"/>
    <p:sldLayoutId id="2147483858" r:id="rId11"/>
  </p:sldLayoutIdLst>
  <p:txStyles>
    <p:titleStyle>
      <a:lvl1pPr algn="ctr" defTabSz="914400" rtl="0" eaLnBrk="1" latinLnBrk="0" hangingPunct="1">
        <a:lnSpc>
          <a:spcPct val="85000"/>
        </a:lnSpc>
        <a:spcBef>
          <a:spcPct val="0"/>
        </a:spcBef>
        <a:buNone/>
        <a:defRPr sz="4000" b="0" i="0" kern="1200" cap="none" spc="-15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10000"/>
        <a:buFont typeface="Wingdings" panose="05000000000000000000" pitchFamily="2" charset="2"/>
        <a:buChar char="§"/>
        <a:defRPr sz="18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600" kern="120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4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5.jpg"/><Relationship Id="rId2" Type="http://schemas.openxmlformats.org/officeDocument/2006/relationships/diagramData" Target="../diagrams/data1.xml"/><Relationship Id="rId1" Type="http://schemas.openxmlformats.org/officeDocument/2006/relationships/slideLayout" Target="../slideLayouts/slideLayout8.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Content Placeholder 9">
            <a:extLst>
              <a:ext uri="{FF2B5EF4-FFF2-40B4-BE49-F238E27FC236}">
                <a16:creationId xmlns:a16="http://schemas.microsoft.com/office/drawing/2014/main" id="{6D4CF3CA-B5DA-3CDF-861B-8DA8CEF6D910}"/>
              </a:ext>
            </a:extLst>
          </p:cNvPr>
          <p:cNvGraphicFramePr>
            <a:graphicFrameLocks noGrp="1"/>
          </p:cNvGraphicFramePr>
          <p:nvPr>
            <p:ph idx="1"/>
          </p:nvPr>
        </p:nvGraphicFramePr>
        <p:xfrm>
          <a:off x="5110163" y="803275"/>
          <a:ext cx="6275387" cy="52498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Text Placeholder 3">
            <a:extLst>
              <a:ext uri="{FF2B5EF4-FFF2-40B4-BE49-F238E27FC236}">
                <a16:creationId xmlns:a16="http://schemas.microsoft.com/office/drawing/2014/main" id="{73934F8A-C929-EBAB-F211-1C375BC92B25}"/>
              </a:ext>
            </a:extLst>
          </p:cNvPr>
          <p:cNvSpPr>
            <a:spLocks noGrp="1"/>
          </p:cNvSpPr>
          <p:nvPr>
            <p:ph type="body" sz="half" idx="2"/>
          </p:nvPr>
        </p:nvSpPr>
        <p:spPr>
          <a:xfrm>
            <a:off x="920110" y="2517406"/>
            <a:ext cx="3396251" cy="2143085"/>
          </a:xfrm>
        </p:spPr>
        <p:txBody>
          <a:bodyPr>
            <a:normAutofit fontScale="70000" lnSpcReduction="20000"/>
          </a:bodyPr>
          <a:lstStyle/>
          <a:p>
            <a:r>
              <a:rPr lang="en-IN" sz="4400" b="1" dirty="0">
                <a:solidFill>
                  <a:schemeClr val="tx1"/>
                </a:solidFill>
              </a:rPr>
              <a:t>AtliQ Hospitality Analysis Report </a:t>
            </a:r>
          </a:p>
        </p:txBody>
      </p:sp>
      <p:pic>
        <p:nvPicPr>
          <p:cNvPr id="6" name="Picture 5" descr="A logo with a circle and a letter&#10;&#10;Description automatically generated">
            <a:extLst>
              <a:ext uri="{FF2B5EF4-FFF2-40B4-BE49-F238E27FC236}">
                <a16:creationId xmlns:a16="http://schemas.microsoft.com/office/drawing/2014/main" id="{C11FE1C8-8632-90A1-F0D0-66C5745E3B76}"/>
              </a:ext>
            </a:extLst>
          </p:cNvPr>
          <p:cNvPicPr>
            <a:picLocks noChangeAspect="1"/>
          </p:cNvPicPr>
          <p:nvPr/>
        </p:nvPicPr>
        <p:blipFill>
          <a:blip r:embed="rId7"/>
          <a:stretch>
            <a:fillRect/>
          </a:stretch>
        </p:blipFill>
        <p:spPr>
          <a:xfrm>
            <a:off x="10378563" y="367727"/>
            <a:ext cx="1370985" cy="1344246"/>
          </a:xfrm>
          <a:prstGeom prst="rect">
            <a:avLst/>
          </a:prstGeom>
        </p:spPr>
      </p:pic>
    </p:spTree>
    <p:extLst>
      <p:ext uri="{BB962C8B-B14F-4D97-AF65-F5344CB8AC3E}">
        <p14:creationId xmlns:p14="http://schemas.microsoft.com/office/powerpoint/2010/main" val="23653109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2" name="Picture 21" descr="Houses in a subdivision">
            <a:extLst>
              <a:ext uri="{FF2B5EF4-FFF2-40B4-BE49-F238E27FC236}">
                <a16:creationId xmlns:a16="http://schemas.microsoft.com/office/drawing/2014/main" id="{1317BC58-6B6A-7244-36F4-7B0DEA5FFA10}"/>
              </a:ext>
            </a:extLst>
          </p:cNvPr>
          <p:cNvPicPr>
            <a:picLocks noChangeAspect="1"/>
          </p:cNvPicPr>
          <p:nvPr/>
        </p:nvPicPr>
        <p:blipFill>
          <a:blip r:embed="rId2">
            <a:duotone>
              <a:prstClr val="black"/>
              <a:schemeClr val="tx2">
                <a:tint val="45000"/>
                <a:satMod val="400000"/>
              </a:schemeClr>
            </a:duotone>
            <a:alphaModFix amt="40000"/>
          </a:blip>
          <a:srcRect t="7865" b="7865"/>
          <a:stretch/>
        </p:blipFill>
        <p:spPr>
          <a:xfrm>
            <a:off x="20" y="10"/>
            <a:ext cx="12191980" cy="6857991"/>
          </a:xfrm>
          <a:prstGeom prst="rect">
            <a:avLst/>
          </a:prstGeom>
        </p:spPr>
      </p:pic>
      <p:sp>
        <p:nvSpPr>
          <p:cNvPr id="2" name="Title 1">
            <a:extLst>
              <a:ext uri="{FF2B5EF4-FFF2-40B4-BE49-F238E27FC236}">
                <a16:creationId xmlns:a16="http://schemas.microsoft.com/office/drawing/2014/main" id="{AA714BD4-D4D8-D8B9-726D-0E834B663341}"/>
              </a:ext>
            </a:extLst>
          </p:cNvPr>
          <p:cNvSpPr>
            <a:spLocks noGrp="1"/>
          </p:cNvSpPr>
          <p:nvPr>
            <p:ph type="title"/>
          </p:nvPr>
        </p:nvSpPr>
        <p:spPr>
          <a:xfrm>
            <a:off x="1097280" y="758952"/>
            <a:ext cx="10058400" cy="3566160"/>
          </a:xfrm>
        </p:spPr>
        <p:txBody>
          <a:bodyPr vert="horz" lIns="91440" tIns="45720" rIns="91440" bIns="45720" rtlCol="0" anchor="b">
            <a:normAutofit/>
          </a:bodyPr>
          <a:lstStyle/>
          <a:p>
            <a:r>
              <a:rPr lang="en-US" sz="8000" b="1">
                <a:solidFill>
                  <a:schemeClr val="tx1">
                    <a:lumMod val="85000"/>
                    <a:lumOff val="15000"/>
                  </a:schemeClr>
                </a:solidFill>
              </a:rPr>
              <a:t>Revenue</a:t>
            </a:r>
            <a:br>
              <a:rPr lang="en-US" sz="8000" b="1">
                <a:solidFill>
                  <a:schemeClr val="tx1">
                    <a:lumMod val="85000"/>
                    <a:lumOff val="15000"/>
                  </a:schemeClr>
                </a:solidFill>
              </a:rPr>
            </a:br>
            <a:endParaRPr lang="en-US" sz="8000">
              <a:solidFill>
                <a:schemeClr val="tx1">
                  <a:lumMod val="85000"/>
                  <a:lumOff val="15000"/>
                </a:schemeClr>
              </a:solidFill>
            </a:endParaRPr>
          </a:p>
        </p:txBody>
      </p:sp>
    </p:spTree>
    <p:extLst>
      <p:ext uri="{BB962C8B-B14F-4D97-AF65-F5344CB8AC3E}">
        <p14:creationId xmlns:p14="http://schemas.microsoft.com/office/powerpoint/2010/main" val="2248326462"/>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AD5060C-9195-4DA7-4C1F-8E57ED296630}"/>
              </a:ext>
            </a:extLst>
          </p:cNvPr>
          <p:cNvPicPr>
            <a:picLocks noChangeAspect="1"/>
          </p:cNvPicPr>
          <p:nvPr/>
        </p:nvPicPr>
        <p:blipFill>
          <a:blip r:embed="rId2"/>
          <a:stretch>
            <a:fillRect/>
          </a:stretch>
        </p:blipFill>
        <p:spPr>
          <a:xfrm>
            <a:off x="212481" y="806245"/>
            <a:ext cx="6630771" cy="4562167"/>
          </a:xfrm>
          <a:prstGeom prst="rect">
            <a:avLst/>
          </a:prstGeom>
        </p:spPr>
      </p:pic>
      <p:sp>
        <p:nvSpPr>
          <p:cNvPr id="6" name="TextBox 5">
            <a:extLst>
              <a:ext uri="{FF2B5EF4-FFF2-40B4-BE49-F238E27FC236}">
                <a16:creationId xmlns:a16="http://schemas.microsoft.com/office/drawing/2014/main" id="{F8C40097-2A70-55F1-9CD8-99F3BC2B1ED0}"/>
              </a:ext>
            </a:extLst>
          </p:cNvPr>
          <p:cNvSpPr txBox="1"/>
          <p:nvPr/>
        </p:nvSpPr>
        <p:spPr>
          <a:xfrm>
            <a:off x="7452852" y="513227"/>
            <a:ext cx="4444180" cy="4678204"/>
          </a:xfrm>
          <a:prstGeom prst="rect">
            <a:avLst/>
          </a:prstGeom>
          <a:noFill/>
          <a:ln>
            <a:noFill/>
          </a:ln>
        </p:spPr>
        <p:style>
          <a:lnRef idx="0">
            <a:scrgbClr r="0" g="0" b="0"/>
          </a:lnRef>
          <a:fillRef idx="0">
            <a:scrgbClr r="0" g="0" b="0"/>
          </a:fillRef>
          <a:effectRef idx="0">
            <a:scrgbClr r="0" g="0" b="0"/>
          </a:effectRef>
          <a:fontRef idx="minor">
            <a:schemeClr val="dk1"/>
          </a:fontRef>
        </p:style>
        <p:txBody>
          <a:bodyPr wrap="square" rtlCol="0">
            <a:spAutoFit/>
          </a:bodyPr>
          <a:lstStyle/>
          <a:p>
            <a:r>
              <a:rPr lang="en-US" sz="1600" b="1" i="1" u="sng" dirty="0"/>
              <a:t>Revenue Analysis Report for May, June, and July:</a:t>
            </a:r>
          </a:p>
          <a:p>
            <a:endParaRPr lang="en-US" sz="1600" b="1" i="1" u="sng" dirty="0"/>
          </a:p>
          <a:p>
            <a:r>
              <a:rPr lang="en-US" sz="1400" dirty="0"/>
              <a:t>In May, the total revenue amounted to </a:t>
            </a:r>
            <a:r>
              <a:rPr lang="en-US" sz="1400" b="1" dirty="0"/>
              <a:t>581.9 million</a:t>
            </a:r>
            <a:r>
              <a:rPr lang="en-US" sz="1400" dirty="0"/>
              <a:t>, reflecting strong performance during the month.</a:t>
            </a:r>
          </a:p>
          <a:p>
            <a:endParaRPr lang="en-US" sz="1400" dirty="0"/>
          </a:p>
          <a:p>
            <a:r>
              <a:rPr lang="en-US" sz="1400" dirty="0"/>
              <a:t>However, in June, revenue slightly decreased to </a:t>
            </a:r>
            <a:r>
              <a:rPr lang="en-US" sz="1400" b="1" dirty="0"/>
              <a:t>553.9 million</a:t>
            </a:r>
            <a:r>
              <a:rPr lang="en-US" sz="1400" dirty="0"/>
              <a:t>, representing a </a:t>
            </a:r>
            <a:r>
              <a:rPr lang="en-US" sz="1400" b="1" dirty="0"/>
              <a:t>-4.81%</a:t>
            </a:r>
            <a:r>
              <a:rPr lang="en-US" sz="1400" dirty="0"/>
              <a:t> decline compared to May. This dip can be attributed to seasonal fluctuations, where typically lower demand or market conditions may have contributed to the reduction.</a:t>
            </a:r>
          </a:p>
          <a:p>
            <a:endParaRPr lang="en-US" sz="1400" dirty="0"/>
          </a:p>
          <a:p>
            <a:r>
              <a:rPr lang="en-US" sz="1400" dirty="0"/>
              <a:t>Moving into July, the revenue showed a slight recovery, reaching </a:t>
            </a:r>
            <a:r>
              <a:rPr lang="en-US" sz="1400" b="1" dirty="0"/>
              <a:t>572.5 million</a:t>
            </a:r>
            <a:r>
              <a:rPr lang="en-US" sz="1400" dirty="0"/>
              <a:t>, which marks a </a:t>
            </a:r>
            <a:r>
              <a:rPr lang="en-US" sz="1400" b="1" dirty="0"/>
              <a:t>3.43%</a:t>
            </a:r>
            <a:r>
              <a:rPr lang="en-US" sz="1400" dirty="0"/>
              <a:t> increase compared to June . This improvement suggests a partial rebound, potentially driven by market adjustments, promotional efforts, or other seasonal factors that contributed to an uptick in sales during this period.</a:t>
            </a:r>
          </a:p>
          <a:p>
            <a:endParaRPr lang="en-US" sz="1400" dirty="0"/>
          </a:p>
          <a:p>
            <a:r>
              <a:rPr lang="en-US" sz="1400" dirty="0"/>
              <a:t>Overall, while the revenue figures fluctuated over the three months, the data indicates typical seasonal volatility, with a dip in June followed by a recovery in July.</a:t>
            </a:r>
          </a:p>
        </p:txBody>
      </p:sp>
      <p:sp>
        <p:nvSpPr>
          <p:cNvPr id="2" name="TextBox 1">
            <a:extLst>
              <a:ext uri="{FF2B5EF4-FFF2-40B4-BE49-F238E27FC236}">
                <a16:creationId xmlns:a16="http://schemas.microsoft.com/office/drawing/2014/main" id="{8DBAD1AD-B4BD-1D9E-3F0C-F0F5861B1B0F}"/>
              </a:ext>
            </a:extLst>
          </p:cNvPr>
          <p:cNvSpPr txBox="1"/>
          <p:nvPr/>
        </p:nvSpPr>
        <p:spPr>
          <a:xfrm>
            <a:off x="212481" y="143895"/>
            <a:ext cx="5270090" cy="369332"/>
          </a:xfrm>
          <a:prstGeom prst="rect">
            <a:avLst/>
          </a:prstGeom>
          <a:noFill/>
        </p:spPr>
        <p:txBody>
          <a:bodyPr wrap="square" rtlCol="0">
            <a:spAutoFit/>
          </a:bodyPr>
          <a:lstStyle/>
          <a:p>
            <a:r>
              <a:rPr lang="en-IN" b="1" dirty="0">
                <a:solidFill>
                  <a:schemeClr val="tx2"/>
                </a:solidFill>
              </a:rPr>
              <a:t>Month Performance Analysis</a:t>
            </a:r>
          </a:p>
        </p:txBody>
      </p:sp>
    </p:spTree>
    <p:extLst>
      <p:ext uri="{BB962C8B-B14F-4D97-AF65-F5344CB8AC3E}">
        <p14:creationId xmlns:p14="http://schemas.microsoft.com/office/powerpoint/2010/main" val="32455712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846204E-106C-35BC-D43A-8D47BE95D9C9}"/>
              </a:ext>
            </a:extLst>
          </p:cNvPr>
          <p:cNvPicPr>
            <a:picLocks noChangeAspect="1"/>
          </p:cNvPicPr>
          <p:nvPr/>
        </p:nvPicPr>
        <p:blipFill>
          <a:blip r:embed="rId2"/>
          <a:stretch>
            <a:fillRect/>
          </a:stretch>
        </p:blipFill>
        <p:spPr>
          <a:xfrm>
            <a:off x="294967" y="481187"/>
            <a:ext cx="11602065" cy="2340759"/>
          </a:xfrm>
          <a:prstGeom prst="rect">
            <a:avLst/>
          </a:prstGeom>
        </p:spPr>
      </p:pic>
      <p:sp>
        <p:nvSpPr>
          <p:cNvPr id="6" name="TextBox 5">
            <a:extLst>
              <a:ext uri="{FF2B5EF4-FFF2-40B4-BE49-F238E27FC236}">
                <a16:creationId xmlns:a16="http://schemas.microsoft.com/office/drawing/2014/main" id="{D224BFAC-386C-7D13-255E-F9D1605DE184}"/>
              </a:ext>
            </a:extLst>
          </p:cNvPr>
          <p:cNvSpPr txBox="1"/>
          <p:nvPr/>
        </p:nvSpPr>
        <p:spPr>
          <a:xfrm>
            <a:off x="294967" y="2991270"/>
            <a:ext cx="11602065" cy="3816429"/>
          </a:xfrm>
          <a:prstGeom prst="rect">
            <a:avLst/>
          </a:prstGeom>
          <a:noFill/>
          <a:ln>
            <a:noFill/>
          </a:ln>
        </p:spPr>
        <p:style>
          <a:lnRef idx="0">
            <a:scrgbClr r="0" g="0" b="0"/>
          </a:lnRef>
          <a:fillRef idx="0">
            <a:scrgbClr r="0" g="0" b="0"/>
          </a:fillRef>
          <a:effectRef idx="0">
            <a:scrgbClr r="0" g="0" b="0"/>
          </a:effectRef>
          <a:fontRef idx="minor">
            <a:schemeClr val="dk1"/>
          </a:fontRef>
        </p:style>
        <p:txBody>
          <a:bodyPr wrap="square" rtlCol="0">
            <a:spAutoFit/>
          </a:bodyPr>
          <a:lstStyle/>
          <a:p>
            <a:r>
              <a:rPr lang="en-US" sz="1400" b="1" u="sng" dirty="0"/>
              <a:t>Revenue Fluctuation Analysis by Week</a:t>
            </a:r>
            <a:r>
              <a:rPr lang="en-US" b="1" u="sng" dirty="0"/>
              <a:t>:</a:t>
            </a:r>
          </a:p>
          <a:p>
            <a:r>
              <a:rPr lang="en-US" sz="1400" dirty="0"/>
              <a:t>From </a:t>
            </a:r>
            <a:r>
              <a:rPr lang="en-US" sz="1400" b="1" dirty="0"/>
              <a:t>Week 19 to Week 29</a:t>
            </a:r>
            <a:r>
              <a:rPr lang="en-US" sz="1400" dirty="0"/>
              <a:t>, the revenue has shown a relatively consistent trend, fluctuating between </a:t>
            </a:r>
            <a:r>
              <a:rPr lang="en-US" sz="1400" b="1" dirty="0"/>
              <a:t>114 M to 140 M</a:t>
            </a:r>
            <a:r>
              <a:rPr lang="en-US" sz="1400" dirty="0"/>
              <a:t>, with variations ranging from </a:t>
            </a:r>
            <a:r>
              <a:rPr lang="en-US" sz="1400" b="1" dirty="0"/>
              <a:t>16% to 22%</a:t>
            </a:r>
            <a:r>
              <a:rPr lang="en-US" sz="1400" dirty="0"/>
              <a:t>. This indicates a moderate level of volatility, possibly influenced by regular business cycles, demand shifts, or external market factors. Despite the fluctuations, the revenue remained within a certain range, highlighting a stable performance with periodic peaks and dips.</a:t>
            </a:r>
          </a:p>
          <a:p>
            <a:endParaRPr lang="en-US" sz="1400" dirty="0"/>
          </a:p>
          <a:p>
            <a:r>
              <a:rPr lang="en-US" sz="1400" dirty="0"/>
              <a:t>However, from </a:t>
            </a:r>
            <a:r>
              <a:rPr lang="en-US" sz="1400" b="1" dirty="0"/>
              <a:t>Week 30 to Week 31</a:t>
            </a:r>
            <a:r>
              <a:rPr lang="en-US" sz="1400" dirty="0"/>
              <a:t>, the revenue sharply declined to the range of </a:t>
            </a:r>
            <a:r>
              <a:rPr lang="en-US" sz="1400" b="1" dirty="0"/>
              <a:t>114 M to 115 M</a:t>
            </a:r>
            <a:r>
              <a:rPr lang="en-US" sz="1400" dirty="0"/>
              <a:t>. This represents a slight dip, maintaining the lower end of the previous range, indicating potential seasonal or operational factors contributing to the reduced performance during this period.</a:t>
            </a:r>
          </a:p>
          <a:p>
            <a:endParaRPr lang="en-US" sz="1400" dirty="0"/>
          </a:p>
          <a:p>
            <a:r>
              <a:rPr lang="en-US" sz="1400" dirty="0"/>
              <a:t>The most notable change occurs in </a:t>
            </a:r>
            <a:r>
              <a:rPr lang="en-US" sz="1400" b="1" dirty="0"/>
              <a:t>Week 32</a:t>
            </a:r>
            <a:r>
              <a:rPr lang="en-US" sz="1400" dirty="0"/>
              <a:t>, where the revenue drastically drops to </a:t>
            </a:r>
            <a:r>
              <a:rPr lang="en-US" sz="1400" b="1" dirty="0"/>
              <a:t>21.01 M</a:t>
            </a:r>
            <a:r>
              <a:rPr lang="en-US" sz="1400" dirty="0"/>
              <a:t>, reflecting an </a:t>
            </a:r>
            <a:r>
              <a:rPr lang="en-US" sz="1400" b="1" dirty="0"/>
              <a:t>81.74% decrease</a:t>
            </a:r>
            <a:r>
              <a:rPr lang="en-US" sz="1400" dirty="0"/>
              <a:t> compared to the prior week. This sharp decline is a significant outlier and may indicate a serious disruption, potentially caused by factors such as </a:t>
            </a:r>
            <a:r>
              <a:rPr lang="en-US" sz="1400" b="1" dirty="0"/>
              <a:t>seasonal changes, market conditions</a:t>
            </a:r>
            <a:r>
              <a:rPr lang="en-US" sz="1400" dirty="0"/>
              <a:t>, or an unforeseen external event.</a:t>
            </a:r>
          </a:p>
          <a:p>
            <a:endParaRPr lang="en-US" sz="1400" dirty="0"/>
          </a:p>
          <a:p>
            <a:r>
              <a:rPr lang="en-US" sz="1400" dirty="0"/>
              <a:t>Understanding the specific causes behind these fluctuations is crucial for future planning and for minimizing the impact of such sharp drops. Exploring the external factors that led to the </a:t>
            </a:r>
            <a:r>
              <a:rPr lang="en-US" sz="1400" b="1" dirty="0"/>
              <a:t>81.74% decrease</a:t>
            </a:r>
            <a:r>
              <a:rPr lang="en-US" sz="1400" dirty="0"/>
              <a:t> in </a:t>
            </a:r>
            <a:r>
              <a:rPr lang="en-US" sz="1400" b="1" dirty="0"/>
              <a:t>Week 32</a:t>
            </a:r>
            <a:r>
              <a:rPr lang="en-US" sz="1400" dirty="0"/>
              <a:t> will help anticipate similar challenges in the future and allow for more resilient strategies moving forward.</a:t>
            </a:r>
            <a:endParaRPr lang="en-IN" sz="1400" dirty="0"/>
          </a:p>
        </p:txBody>
      </p:sp>
      <p:sp>
        <p:nvSpPr>
          <p:cNvPr id="2" name="TextBox 1">
            <a:extLst>
              <a:ext uri="{FF2B5EF4-FFF2-40B4-BE49-F238E27FC236}">
                <a16:creationId xmlns:a16="http://schemas.microsoft.com/office/drawing/2014/main" id="{F427E81A-44BE-6E92-FA23-5D26AE8DC065}"/>
              </a:ext>
            </a:extLst>
          </p:cNvPr>
          <p:cNvSpPr txBox="1"/>
          <p:nvPr/>
        </p:nvSpPr>
        <p:spPr>
          <a:xfrm>
            <a:off x="668594" y="62693"/>
            <a:ext cx="3972232" cy="400110"/>
          </a:xfrm>
          <a:prstGeom prst="rect">
            <a:avLst/>
          </a:prstGeom>
          <a:noFill/>
        </p:spPr>
        <p:txBody>
          <a:bodyPr wrap="square" rtlCol="0">
            <a:spAutoFit/>
          </a:bodyPr>
          <a:lstStyle/>
          <a:p>
            <a:r>
              <a:rPr lang="en-IN" sz="2000" b="1" dirty="0">
                <a:solidFill>
                  <a:schemeClr val="tx2"/>
                </a:solidFill>
              </a:rPr>
              <a:t>Week Performance Analysis</a:t>
            </a:r>
          </a:p>
        </p:txBody>
      </p:sp>
    </p:spTree>
    <p:extLst>
      <p:ext uri="{BB962C8B-B14F-4D97-AF65-F5344CB8AC3E}">
        <p14:creationId xmlns:p14="http://schemas.microsoft.com/office/powerpoint/2010/main" val="13279526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4C24628C-D972-3C90-4D3A-9E3A1A4D962E}"/>
              </a:ext>
            </a:extLst>
          </p:cNvPr>
          <p:cNvPicPr>
            <a:picLocks noChangeAspect="1"/>
          </p:cNvPicPr>
          <p:nvPr/>
        </p:nvPicPr>
        <p:blipFill>
          <a:blip r:embed="rId2"/>
          <a:stretch>
            <a:fillRect/>
          </a:stretch>
        </p:blipFill>
        <p:spPr>
          <a:xfrm>
            <a:off x="76199" y="639097"/>
            <a:ext cx="6731001" cy="5400367"/>
          </a:xfrm>
          <a:prstGeom prst="rect">
            <a:avLst/>
          </a:prstGeom>
        </p:spPr>
      </p:pic>
      <p:sp>
        <p:nvSpPr>
          <p:cNvPr id="12" name="TextBox 11">
            <a:extLst>
              <a:ext uri="{FF2B5EF4-FFF2-40B4-BE49-F238E27FC236}">
                <a16:creationId xmlns:a16="http://schemas.microsoft.com/office/drawing/2014/main" id="{B9677D58-3765-1A33-DDB4-C6A5B1378BF6}"/>
              </a:ext>
            </a:extLst>
          </p:cNvPr>
          <p:cNvSpPr txBox="1"/>
          <p:nvPr/>
        </p:nvSpPr>
        <p:spPr>
          <a:xfrm>
            <a:off x="6807200" y="58846"/>
            <a:ext cx="5232400" cy="6709529"/>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1" u="sng" strike="noStrike" cap="none" normalizeH="0" baseline="0" dirty="0">
                <a:ln>
                  <a:noFill/>
                </a:ln>
                <a:solidFill>
                  <a:schemeClr val="tx1"/>
                </a:solidFill>
                <a:effectLst/>
                <a:latin typeface="Arial" panose="020B0604020202020204" pitchFamily="34" charset="0"/>
              </a:rPr>
              <a:t>Revenue Comparison between Properties: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1" i="1" u="sng"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a:ln>
                  <a:noFill/>
                </a:ln>
                <a:solidFill>
                  <a:schemeClr val="tx1"/>
                </a:solidFill>
                <a:effectLst/>
                <a:latin typeface="Arial" panose="020B0604020202020204" pitchFamily="34" charset="0"/>
              </a:rPr>
              <a:t>Atliq Exotica vs. Atliq Palace</a:t>
            </a:r>
            <a:r>
              <a:rPr kumimoji="0" lang="en-US" altLang="en-US" sz="1200" b="0" i="0" u="none" strike="noStrike" cap="none" normalizeH="0" baseline="0" dirty="0">
                <a:ln>
                  <a:noFill/>
                </a:ln>
                <a:solidFill>
                  <a:schemeClr val="tx1"/>
                </a:solidFill>
                <a:effectLst/>
                <a:latin typeface="Arial" panose="020B0604020202020204" pitchFamily="34" charset="0"/>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a:ln>
                  <a:noFill/>
                </a:ln>
                <a:solidFill>
                  <a:schemeClr val="tx1"/>
                </a:solidFill>
                <a:effectLst/>
                <a:latin typeface="Arial" panose="020B0604020202020204" pitchFamily="34" charset="0"/>
              </a:rPr>
              <a:t>5.26%</a:t>
            </a:r>
            <a:r>
              <a:rPr kumimoji="0" lang="en-US" altLang="en-US" sz="1200" b="0" i="0" u="none" strike="noStrike" cap="none" normalizeH="0" baseline="0" dirty="0">
                <a:ln>
                  <a:noFill/>
                </a:ln>
                <a:solidFill>
                  <a:schemeClr val="tx1"/>
                </a:solidFill>
                <a:effectLst/>
                <a:latin typeface="Arial" panose="020B0604020202020204" pitchFamily="34" charset="0"/>
              </a:rPr>
              <a:t> higher revenue for Atliq Exotica.</a:t>
            </a:r>
          </a:p>
          <a:p>
            <a:pPr marL="457200" marR="0" lvl="1" indent="0" algn="l" defTabSz="914400" rtl="0" eaLnBrk="0" fontAlgn="base" latinLnBrk="0" hangingPunct="0">
              <a:lnSpc>
                <a:spcPct val="100000"/>
              </a:lnSpc>
              <a:spcBef>
                <a:spcPct val="0"/>
              </a:spcBef>
              <a:spcAft>
                <a:spcPct val="0"/>
              </a:spcAft>
              <a:buClrTx/>
              <a:buSzTx/>
              <a:buFontTx/>
              <a:buChar char="•"/>
              <a:tabLst/>
            </a:pPr>
            <a:endParaRPr kumimoji="0" lang="en-US" altLang="en-US" sz="1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a:ln>
                  <a:noFill/>
                </a:ln>
                <a:solidFill>
                  <a:schemeClr val="tx1"/>
                </a:solidFill>
                <a:effectLst/>
                <a:latin typeface="Arial" panose="020B0604020202020204" pitchFamily="34" charset="0"/>
              </a:rPr>
              <a:t>Atliq Exotica vs. Atliq City</a:t>
            </a:r>
            <a:r>
              <a:rPr kumimoji="0" lang="en-US" altLang="en-US" sz="1200" b="0" i="0" u="none" strike="noStrike" cap="none" normalizeH="0" baseline="0" dirty="0">
                <a:ln>
                  <a:noFill/>
                </a:ln>
                <a:solidFill>
                  <a:schemeClr val="tx1"/>
                </a:solidFill>
                <a:effectLst/>
                <a:latin typeface="Arial" panose="020B0604020202020204" pitchFamily="34" charset="0"/>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a:ln>
                  <a:noFill/>
                </a:ln>
                <a:solidFill>
                  <a:schemeClr val="tx1"/>
                </a:solidFill>
                <a:effectLst/>
                <a:latin typeface="Arial" panose="020B0604020202020204" pitchFamily="34" charset="0"/>
              </a:rPr>
              <a:t>11.9%</a:t>
            </a:r>
            <a:r>
              <a:rPr kumimoji="0" lang="en-US" altLang="en-US" sz="1200" b="0" i="0" u="none" strike="noStrike" cap="none" normalizeH="0" baseline="0" dirty="0">
                <a:ln>
                  <a:noFill/>
                </a:ln>
                <a:solidFill>
                  <a:schemeClr val="tx1"/>
                </a:solidFill>
                <a:effectLst/>
                <a:latin typeface="Arial" panose="020B0604020202020204" pitchFamily="34" charset="0"/>
              </a:rPr>
              <a:t> higher revenue for Atliq Exotica.</a:t>
            </a:r>
          </a:p>
          <a:p>
            <a:pPr marL="457200" marR="0" lvl="1" indent="0" algn="l" defTabSz="914400" rtl="0" eaLnBrk="0" fontAlgn="base" latinLnBrk="0" hangingPunct="0">
              <a:lnSpc>
                <a:spcPct val="100000"/>
              </a:lnSpc>
              <a:spcBef>
                <a:spcPct val="0"/>
              </a:spcBef>
              <a:spcAft>
                <a:spcPct val="0"/>
              </a:spcAft>
              <a:buClrTx/>
              <a:buSzTx/>
              <a:buFontTx/>
              <a:buChar char="•"/>
              <a:tabLst/>
            </a:pPr>
            <a:endParaRPr kumimoji="0" lang="en-US" altLang="en-US" sz="1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a:ln>
                  <a:noFill/>
                </a:ln>
                <a:solidFill>
                  <a:schemeClr val="tx1"/>
                </a:solidFill>
                <a:effectLst/>
                <a:latin typeface="Arial" panose="020B0604020202020204" pitchFamily="34" charset="0"/>
              </a:rPr>
              <a:t>Atliq Exotica vs. Atliq Blu</a:t>
            </a:r>
            <a:r>
              <a:rPr kumimoji="0" lang="en-US" altLang="en-US" sz="1200" b="0" i="0" u="none" strike="noStrike" cap="none" normalizeH="0" baseline="0" dirty="0">
                <a:ln>
                  <a:noFill/>
                </a:ln>
                <a:solidFill>
                  <a:schemeClr val="tx1"/>
                </a:solidFill>
                <a:effectLst/>
                <a:latin typeface="Arial" panose="020B0604020202020204" pitchFamily="34" charset="0"/>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a:ln>
                  <a:noFill/>
                </a:ln>
                <a:solidFill>
                  <a:schemeClr val="tx1"/>
                </a:solidFill>
                <a:effectLst/>
                <a:latin typeface="Arial" panose="020B0604020202020204" pitchFamily="34" charset="0"/>
              </a:rPr>
              <a:t>22.6%</a:t>
            </a:r>
            <a:r>
              <a:rPr kumimoji="0" lang="en-US" altLang="en-US" sz="1200" b="0" i="0" u="none" strike="noStrike" cap="none" normalizeH="0" baseline="0" dirty="0">
                <a:ln>
                  <a:noFill/>
                </a:ln>
                <a:solidFill>
                  <a:schemeClr val="tx1"/>
                </a:solidFill>
                <a:effectLst/>
                <a:latin typeface="Arial" panose="020B0604020202020204" pitchFamily="34" charset="0"/>
              </a:rPr>
              <a:t> higher revenue for Atliq Exotica.</a:t>
            </a:r>
          </a:p>
          <a:p>
            <a:pPr marL="457200" marR="0" lvl="1" indent="0" algn="l" defTabSz="914400" rtl="0" eaLnBrk="0" fontAlgn="base" latinLnBrk="0" hangingPunct="0">
              <a:lnSpc>
                <a:spcPct val="100000"/>
              </a:lnSpc>
              <a:spcBef>
                <a:spcPct val="0"/>
              </a:spcBef>
              <a:spcAft>
                <a:spcPct val="0"/>
              </a:spcAft>
              <a:buClrTx/>
              <a:buSzTx/>
              <a:buFontTx/>
              <a:buChar char="•"/>
              <a:tabLst/>
            </a:pPr>
            <a:endParaRPr kumimoji="0" lang="en-US" altLang="en-US" sz="1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a:ln>
                  <a:noFill/>
                </a:ln>
                <a:solidFill>
                  <a:schemeClr val="tx1"/>
                </a:solidFill>
                <a:effectLst/>
                <a:latin typeface="Arial" panose="020B0604020202020204" pitchFamily="34" charset="0"/>
              </a:rPr>
              <a:t>Atliq Exotica vs. Atliq Bay</a:t>
            </a:r>
            <a:r>
              <a:rPr kumimoji="0" lang="en-US" altLang="en-US" sz="1200" b="0" i="0" u="none" strike="noStrike" cap="none" normalizeH="0" baseline="0" dirty="0">
                <a:ln>
                  <a:noFill/>
                </a:ln>
                <a:solidFill>
                  <a:schemeClr val="tx1"/>
                </a:solidFill>
                <a:effectLst/>
                <a:latin typeface="Arial" panose="020B0604020202020204" pitchFamily="34" charset="0"/>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a:ln>
                  <a:noFill/>
                </a:ln>
                <a:solidFill>
                  <a:schemeClr val="tx1"/>
                </a:solidFill>
                <a:effectLst/>
                <a:latin typeface="Arial" panose="020B0604020202020204" pitchFamily="34" charset="0"/>
              </a:rPr>
              <a:t>23.1%</a:t>
            </a:r>
            <a:r>
              <a:rPr kumimoji="0" lang="en-US" altLang="en-US" sz="1200" b="0" i="0" u="none" strike="noStrike" cap="none" normalizeH="0" baseline="0" dirty="0">
                <a:ln>
                  <a:noFill/>
                </a:ln>
                <a:solidFill>
                  <a:schemeClr val="tx1"/>
                </a:solidFill>
                <a:effectLst/>
                <a:latin typeface="Arial" panose="020B0604020202020204" pitchFamily="34" charset="0"/>
              </a:rPr>
              <a:t> higher revenue for Atliq Exotica.</a:t>
            </a:r>
          </a:p>
          <a:p>
            <a:pPr marL="457200" marR="0" lvl="1" indent="0" algn="l" defTabSz="914400" rtl="0" eaLnBrk="0" fontAlgn="base" latinLnBrk="0" hangingPunct="0">
              <a:lnSpc>
                <a:spcPct val="100000"/>
              </a:lnSpc>
              <a:spcBef>
                <a:spcPct val="0"/>
              </a:spcBef>
              <a:spcAft>
                <a:spcPct val="0"/>
              </a:spcAft>
              <a:buClrTx/>
              <a:buSzTx/>
              <a:buFontTx/>
              <a:buChar char="•"/>
              <a:tabLst/>
            </a:pPr>
            <a:endParaRPr kumimoji="0" lang="en-US" altLang="en-US" sz="1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a:ln>
                  <a:noFill/>
                </a:ln>
                <a:solidFill>
                  <a:schemeClr val="tx1"/>
                </a:solidFill>
                <a:effectLst/>
                <a:latin typeface="Arial" panose="020B0604020202020204" pitchFamily="34" charset="0"/>
              </a:rPr>
              <a:t>Atliq Exotica vs. Atliq Grands</a:t>
            </a:r>
            <a:r>
              <a:rPr kumimoji="0" lang="en-US" altLang="en-US" sz="1200" b="0" i="0" u="none" strike="noStrike" cap="none" normalizeH="0" baseline="0" dirty="0">
                <a:ln>
                  <a:noFill/>
                </a:ln>
                <a:solidFill>
                  <a:schemeClr val="tx1"/>
                </a:solidFill>
                <a:effectLst/>
                <a:latin typeface="Arial" panose="020B0604020202020204" pitchFamily="34" charset="0"/>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a:ln>
                  <a:noFill/>
                </a:ln>
                <a:solidFill>
                  <a:schemeClr val="tx1"/>
                </a:solidFill>
                <a:effectLst/>
                <a:latin typeface="Arial" panose="020B0604020202020204" pitchFamily="34" charset="0"/>
              </a:rPr>
              <a:t>51.89%</a:t>
            </a:r>
            <a:r>
              <a:rPr kumimoji="0" lang="en-US" altLang="en-US" sz="1200" b="0" i="0" u="none" strike="noStrike" cap="none" normalizeH="0" baseline="0" dirty="0">
                <a:ln>
                  <a:noFill/>
                </a:ln>
                <a:solidFill>
                  <a:schemeClr val="tx1"/>
                </a:solidFill>
                <a:effectLst/>
                <a:latin typeface="Arial" panose="020B0604020202020204" pitchFamily="34" charset="0"/>
              </a:rPr>
              <a:t> higher revenue for Atliq Exotica.</a:t>
            </a:r>
          </a:p>
          <a:p>
            <a:pPr marL="457200" marR="0" lvl="1" indent="0" algn="l" defTabSz="914400" rtl="0" eaLnBrk="0" fontAlgn="base" latinLnBrk="0" hangingPunct="0">
              <a:lnSpc>
                <a:spcPct val="100000"/>
              </a:lnSpc>
              <a:spcBef>
                <a:spcPct val="0"/>
              </a:spcBef>
              <a:spcAft>
                <a:spcPct val="0"/>
              </a:spcAft>
              <a:buClrTx/>
              <a:buSzTx/>
              <a:buFontTx/>
              <a:buChar char="•"/>
              <a:tabLst/>
            </a:pPr>
            <a:endParaRPr kumimoji="0" lang="en-US" altLang="en-US" sz="1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a:ln>
                  <a:noFill/>
                </a:ln>
                <a:solidFill>
                  <a:schemeClr val="tx1"/>
                </a:solidFill>
                <a:effectLst/>
                <a:latin typeface="Arial" panose="020B0604020202020204" pitchFamily="34" charset="0"/>
              </a:rPr>
              <a:t>Atliq Exotica vs. Atliq Seasons</a:t>
            </a:r>
            <a:r>
              <a:rPr kumimoji="0" lang="en-US" altLang="en-US" sz="1200" b="0" i="0" u="none" strike="noStrike" cap="none" normalizeH="0" baseline="0" dirty="0">
                <a:ln>
                  <a:noFill/>
                </a:ln>
                <a:solidFill>
                  <a:schemeClr val="tx1"/>
                </a:solidFill>
                <a:effectLst/>
                <a:latin typeface="Arial" panose="020B0604020202020204" pitchFamily="34" charset="0"/>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a:ln>
                  <a:noFill/>
                </a:ln>
                <a:solidFill>
                  <a:schemeClr val="tx1"/>
                </a:solidFill>
                <a:effectLst/>
                <a:latin typeface="Arial" panose="020B0604020202020204" pitchFamily="34" charset="0"/>
              </a:rPr>
              <a:t>384.8%</a:t>
            </a:r>
            <a:r>
              <a:rPr kumimoji="0" lang="en-US" altLang="en-US" sz="1200" b="0" i="0" u="none" strike="noStrike" cap="none" normalizeH="0" baseline="0" dirty="0">
                <a:ln>
                  <a:noFill/>
                </a:ln>
                <a:solidFill>
                  <a:schemeClr val="tx1"/>
                </a:solidFill>
                <a:effectLst/>
                <a:latin typeface="Arial" panose="020B0604020202020204" pitchFamily="34" charset="0"/>
              </a:rPr>
              <a:t> higher revenue for Atliq Exotica</a:t>
            </a:r>
          </a:p>
          <a:p>
            <a:pPr marL="457200" marR="0" lvl="1" indent="0" algn="l" defTabSz="914400" rtl="0" eaLnBrk="0" fontAlgn="base" latinLnBrk="0" hangingPunct="0">
              <a:lnSpc>
                <a:spcPct val="100000"/>
              </a:lnSpc>
              <a:spcBef>
                <a:spcPct val="0"/>
              </a:spcBef>
              <a:spcAft>
                <a:spcPct val="0"/>
              </a:spcAft>
              <a:buClrTx/>
              <a:buSzTx/>
              <a:buFontTx/>
              <a:buChar char="•"/>
              <a:tabLst/>
            </a:pPr>
            <a:endParaRPr kumimoji="0" lang="en-US" altLang="en-US" sz="1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Arial" panose="020B0604020202020204" pitchFamily="34" charset="0"/>
              </a:rPr>
              <a:t>Improvement: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a:ln>
                  <a:noFill/>
                </a:ln>
                <a:solidFill>
                  <a:schemeClr val="tx1"/>
                </a:solidFill>
                <a:effectLst/>
                <a:latin typeface="Arial" panose="020B0604020202020204" pitchFamily="34" charset="0"/>
              </a:rPr>
              <a:t>Atliq Grands</a:t>
            </a:r>
            <a:r>
              <a:rPr kumimoji="0" lang="en-US" altLang="en-US" sz="1200" b="0" i="0" u="none" strike="noStrike" cap="none" normalizeH="0" baseline="0" dirty="0">
                <a:ln>
                  <a:noFill/>
                </a:ln>
                <a:solidFill>
                  <a:schemeClr val="tx1"/>
                </a:solidFill>
                <a:effectLst/>
                <a:latin typeface="Arial" panose="020B0604020202020204" pitchFamily="34" charset="0"/>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Arial" panose="020B0604020202020204" pitchFamily="34" charset="0"/>
              </a:rPr>
              <a:t>Revamp marketing strategies and improve guest experience to enhance competitiveness.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a:ln>
                  <a:noFill/>
                </a:ln>
                <a:solidFill>
                  <a:schemeClr val="tx1"/>
                </a:solidFill>
                <a:effectLst/>
                <a:latin typeface="Arial" panose="020B0604020202020204" pitchFamily="34" charset="0"/>
              </a:rPr>
              <a:t>Atliq Seasons</a:t>
            </a:r>
            <a:r>
              <a:rPr kumimoji="0" lang="en-US" altLang="en-US" sz="1200" b="0" i="0" u="none" strike="noStrike" cap="none" normalizeH="0" baseline="0" dirty="0">
                <a:ln>
                  <a:noFill/>
                </a:ln>
                <a:solidFill>
                  <a:schemeClr val="tx1"/>
                </a:solidFill>
                <a:effectLst/>
                <a:latin typeface="Arial" panose="020B0604020202020204" pitchFamily="34" charset="0"/>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Arial" panose="020B0604020202020204" pitchFamily="34" charset="0"/>
              </a:rPr>
              <a:t>Focus on improving service quality, reevaluating pricing, and launching targeted promotions to attract more customers.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a:ln>
                  <a:noFill/>
                </a:ln>
                <a:solidFill>
                  <a:schemeClr val="tx1"/>
                </a:solidFill>
                <a:effectLst/>
                <a:latin typeface="Arial" panose="020B0604020202020204" pitchFamily="34" charset="0"/>
              </a:rPr>
              <a:t>Replicate Success of Atliq Exotica</a:t>
            </a:r>
            <a:r>
              <a:rPr kumimoji="0" lang="en-US" altLang="en-US" sz="1200" b="0" i="0" u="none" strike="noStrike" cap="none" normalizeH="0" baseline="0" dirty="0">
                <a:ln>
                  <a:noFill/>
                </a:ln>
                <a:solidFill>
                  <a:schemeClr val="tx1"/>
                </a:solidFill>
                <a:effectLst/>
                <a:latin typeface="Arial" panose="020B0604020202020204" pitchFamily="34" charset="0"/>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Arial" panose="020B0604020202020204" pitchFamily="34" charset="0"/>
              </a:rPr>
              <a:t>Analyze best practices in customer engagement, location advantages, and marketing strategies.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Arial" panose="020B0604020202020204" pitchFamily="34" charset="0"/>
              </a:rPr>
              <a:t>Apply these insights to improve performance at underperforming properties</a:t>
            </a:r>
            <a:endParaRPr kumimoji="0" lang="en-US" altLang="en-US" sz="12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200" b="0" i="0" u="none" strike="noStrike" cap="none" normalizeH="0" baseline="0" dirty="0">
                <a:ln>
                  <a:noFill/>
                </a:ln>
                <a:solidFill>
                  <a:schemeClr val="tx1"/>
                </a:solidFill>
                <a:effectLst/>
                <a:latin typeface="Arial" panose="020B0604020202020204" pitchFamily="34" charset="0"/>
              </a:rPr>
              <a:t>.</a:t>
            </a:r>
            <a:r>
              <a:rPr kumimoji="0" lang="en-US" altLang="en-US" sz="1200" b="1" i="0" u="none" strike="noStrike" cap="none" normalizeH="0" baseline="0" dirty="0">
                <a:ln>
                  <a:noFill/>
                </a:ln>
                <a:solidFill>
                  <a:schemeClr val="tx1"/>
                </a:solidFill>
                <a:effectLst/>
                <a:latin typeface="Arial" panose="020B0604020202020204" pitchFamily="34" charset="0"/>
              </a:rPr>
              <a:t>By implementing focused strategies, Atliq can achieve a more balanced and sustainable growth trajectory across its properties.</a:t>
            </a:r>
          </a:p>
          <a:p>
            <a:pPr marL="457200" marR="0" lvl="1" indent="0" algn="l" defTabSz="914400" rtl="0" eaLnBrk="0" fontAlgn="base" latinLnBrk="0" hangingPunct="0">
              <a:lnSpc>
                <a:spcPct val="100000"/>
              </a:lnSpc>
              <a:spcBef>
                <a:spcPct val="0"/>
              </a:spcBef>
              <a:spcAft>
                <a:spcPct val="0"/>
              </a:spcAft>
              <a:buClrTx/>
              <a:buSzTx/>
              <a:tabLst/>
            </a:pPr>
            <a:endParaRPr lang="en-IN" dirty="0"/>
          </a:p>
        </p:txBody>
      </p:sp>
      <p:sp>
        <p:nvSpPr>
          <p:cNvPr id="13" name="TextBox 12">
            <a:extLst>
              <a:ext uri="{FF2B5EF4-FFF2-40B4-BE49-F238E27FC236}">
                <a16:creationId xmlns:a16="http://schemas.microsoft.com/office/drawing/2014/main" id="{A300CC6A-5E5D-0151-8656-AD823C1DA906}"/>
              </a:ext>
            </a:extLst>
          </p:cNvPr>
          <p:cNvSpPr txBox="1"/>
          <p:nvPr/>
        </p:nvSpPr>
        <p:spPr>
          <a:xfrm>
            <a:off x="243347" y="58846"/>
            <a:ext cx="5751871" cy="400110"/>
          </a:xfrm>
          <a:prstGeom prst="rect">
            <a:avLst/>
          </a:prstGeom>
          <a:noFill/>
        </p:spPr>
        <p:txBody>
          <a:bodyPr wrap="square" rtlCol="0">
            <a:spAutoFit/>
          </a:bodyPr>
          <a:lstStyle/>
          <a:p>
            <a:r>
              <a:rPr lang="en-IN" sz="2000" b="1" dirty="0">
                <a:solidFill>
                  <a:schemeClr val="tx2"/>
                </a:solidFill>
              </a:rPr>
              <a:t>Properties</a:t>
            </a:r>
          </a:p>
        </p:txBody>
      </p:sp>
    </p:spTree>
    <p:extLst>
      <p:ext uri="{BB962C8B-B14F-4D97-AF65-F5344CB8AC3E}">
        <p14:creationId xmlns:p14="http://schemas.microsoft.com/office/powerpoint/2010/main" val="3348115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89224389-55A7-7905-7690-57A842D825F3}"/>
              </a:ext>
            </a:extLst>
          </p:cNvPr>
          <p:cNvSpPr txBox="1"/>
          <p:nvPr/>
        </p:nvSpPr>
        <p:spPr>
          <a:xfrm>
            <a:off x="6685628" y="80076"/>
            <a:ext cx="5437239" cy="6340197"/>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IN" sz="1400" b="1" dirty="0"/>
              <a:t>City Performance Comparison:</a:t>
            </a:r>
          </a:p>
          <a:p>
            <a:r>
              <a:rPr lang="en-IN" sz="1200" dirty="0"/>
              <a:t>When comparing the performance across various cities, </a:t>
            </a:r>
            <a:r>
              <a:rPr lang="en-IN" sz="1200" b="1" dirty="0"/>
              <a:t>Mumbai</a:t>
            </a:r>
            <a:r>
              <a:rPr lang="en-IN" sz="1200" dirty="0"/>
              <a:t> emerges as the clear leader, generating the highest revenue of </a:t>
            </a:r>
            <a:r>
              <a:rPr lang="en-IN" sz="1200" b="1" dirty="0"/>
              <a:t>669M</a:t>
            </a:r>
            <a:r>
              <a:rPr lang="en-IN" sz="1200" dirty="0"/>
              <a:t>, far surpassing other cities. </a:t>
            </a:r>
            <a:r>
              <a:rPr lang="en-IN" sz="1200" b="1" dirty="0"/>
              <a:t>Bangalore</a:t>
            </a:r>
            <a:r>
              <a:rPr lang="en-IN" sz="1200" dirty="0"/>
              <a:t> follows with </a:t>
            </a:r>
            <a:r>
              <a:rPr lang="en-IN" sz="1200" b="1" dirty="0"/>
              <a:t>420M</a:t>
            </a:r>
            <a:r>
              <a:rPr lang="en-IN" sz="1200" dirty="0"/>
              <a:t> in revenue, while </a:t>
            </a:r>
            <a:r>
              <a:rPr lang="en-IN" sz="1200" b="1" dirty="0"/>
              <a:t>Hyderabad</a:t>
            </a:r>
            <a:r>
              <a:rPr lang="en-IN" sz="1200" dirty="0"/>
              <a:t> generates </a:t>
            </a:r>
            <a:r>
              <a:rPr lang="en-IN" sz="1200" b="1" dirty="0"/>
              <a:t>352M</a:t>
            </a:r>
            <a:r>
              <a:rPr lang="en-IN" sz="1200" dirty="0"/>
              <a:t>. </a:t>
            </a:r>
            <a:r>
              <a:rPr lang="en-IN" sz="1200" b="1" dirty="0"/>
              <a:t>Delhi</a:t>
            </a:r>
            <a:r>
              <a:rPr lang="en-IN" sz="1200" dirty="0"/>
              <a:t> lags behind, with the lowest revenue of </a:t>
            </a:r>
            <a:r>
              <a:rPr lang="en-IN" sz="1200" b="1" dirty="0"/>
              <a:t>294M</a:t>
            </a:r>
            <a:r>
              <a:rPr lang="en-IN" sz="1200" dirty="0"/>
              <a:t>, reflecting a significant underperformance compared to the other cities.</a:t>
            </a:r>
          </a:p>
          <a:p>
            <a:endParaRPr lang="en-IN" sz="1200" dirty="0"/>
          </a:p>
          <a:p>
            <a:r>
              <a:rPr lang="en-IN" sz="1400" b="1" dirty="0"/>
              <a:t>Revenue Comparison</a:t>
            </a:r>
            <a:r>
              <a:rPr lang="en-IN" sz="1200" b="1" dirty="0"/>
              <a:t>:</a:t>
            </a:r>
          </a:p>
          <a:p>
            <a:pPr>
              <a:buFont typeface="Arial" panose="020B0604020202020204" pitchFamily="34" charset="0"/>
              <a:buChar char="•"/>
            </a:pPr>
            <a:r>
              <a:rPr lang="en-IN" sz="1200" b="1" dirty="0"/>
              <a:t>Mumbai vs. Hyderabad</a:t>
            </a:r>
            <a:r>
              <a:rPr lang="en-IN" sz="1200" dirty="0"/>
              <a:t>: Mumbai’s revenue is </a:t>
            </a:r>
            <a:r>
              <a:rPr lang="en-IN" sz="1200" b="1" dirty="0"/>
              <a:t>89.91%</a:t>
            </a:r>
            <a:r>
              <a:rPr lang="en-IN" sz="1200" dirty="0"/>
              <a:t> higher than Hyderabad’s, showcasing a considerable gap.</a:t>
            </a:r>
          </a:p>
          <a:p>
            <a:pPr>
              <a:buFont typeface="Arial" panose="020B0604020202020204" pitchFamily="34" charset="0"/>
              <a:buChar char="•"/>
            </a:pPr>
            <a:endParaRPr lang="en-IN" sz="1200" dirty="0"/>
          </a:p>
          <a:p>
            <a:pPr>
              <a:buFont typeface="Arial" panose="020B0604020202020204" pitchFamily="34" charset="0"/>
              <a:buChar char="•"/>
            </a:pPr>
            <a:r>
              <a:rPr lang="en-IN" sz="1200" b="1" dirty="0"/>
              <a:t>Mumbai vs. Bangalore</a:t>
            </a:r>
            <a:r>
              <a:rPr lang="en-IN" sz="1200" dirty="0"/>
              <a:t>: Mumbai’s revenue is </a:t>
            </a:r>
            <a:r>
              <a:rPr lang="en-IN" sz="1200" b="1" dirty="0"/>
              <a:t>59.3%</a:t>
            </a:r>
            <a:r>
              <a:rPr lang="en-IN" sz="1200" dirty="0"/>
              <a:t> higher than Bangalore’s, again indicating a strong performance advantage.</a:t>
            </a:r>
          </a:p>
          <a:p>
            <a:pPr>
              <a:buFont typeface="Arial" panose="020B0604020202020204" pitchFamily="34" charset="0"/>
              <a:buChar char="•"/>
            </a:pPr>
            <a:endParaRPr lang="en-IN" sz="1200" dirty="0"/>
          </a:p>
          <a:p>
            <a:pPr>
              <a:buFont typeface="Arial" panose="020B0604020202020204" pitchFamily="34" charset="0"/>
              <a:buChar char="•"/>
            </a:pPr>
            <a:r>
              <a:rPr lang="en-IN" sz="1200" b="1" dirty="0"/>
              <a:t>Mumbai vs. Delhi</a:t>
            </a:r>
            <a:r>
              <a:rPr lang="en-IN" sz="1200" dirty="0"/>
              <a:t>: Mumbai generates </a:t>
            </a:r>
            <a:r>
              <a:rPr lang="en-IN" sz="1200" b="1" dirty="0"/>
              <a:t>127.55%</a:t>
            </a:r>
            <a:r>
              <a:rPr lang="en-IN" sz="1200" dirty="0"/>
              <a:t> more revenue than Delhi, with a striking difference in performance.</a:t>
            </a:r>
          </a:p>
          <a:p>
            <a:pPr>
              <a:buFont typeface="Arial" panose="020B0604020202020204" pitchFamily="34" charset="0"/>
              <a:buChar char="•"/>
            </a:pPr>
            <a:endParaRPr lang="en-IN" sz="1200" dirty="0"/>
          </a:p>
          <a:p>
            <a:pPr>
              <a:buFont typeface="Arial" panose="020B0604020202020204" pitchFamily="34" charset="0"/>
              <a:buChar char="•"/>
            </a:pPr>
            <a:r>
              <a:rPr lang="en-IN" sz="1200" b="1" dirty="0"/>
              <a:t>Hyderabad vs. Bangalore</a:t>
            </a:r>
            <a:r>
              <a:rPr lang="en-IN" sz="1200" dirty="0"/>
              <a:t>: Hyderabad’s revenue is </a:t>
            </a:r>
            <a:r>
              <a:rPr lang="en-IN" sz="1200" b="1" dirty="0"/>
              <a:t>16.66%</a:t>
            </a:r>
            <a:r>
              <a:rPr lang="en-IN" sz="1200" dirty="0"/>
              <a:t> higher than Bangalore’s, showing a moderate difference.</a:t>
            </a:r>
          </a:p>
          <a:p>
            <a:pPr>
              <a:buFont typeface="Arial" panose="020B0604020202020204" pitchFamily="34" charset="0"/>
              <a:buChar char="•"/>
            </a:pPr>
            <a:endParaRPr lang="en-IN" sz="1200" dirty="0"/>
          </a:p>
          <a:p>
            <a:pPr>
              <a:buFont typeface="Arial" panose="020B0604020202020204" pitchFamily="34" charset="0"/>
              <a:buChar char="•"/>
            </a:pPr>
            <a:r>
              <a:rPr lang="en-IN" sz="1200" b="1" dirty="0"/>
              <a:t>Hyderabad vs. Delhi</a:t>
            </a:r>
            <a:r>
              <a:rPr lang="en-IN" sz="1200" dirty="0"/>
              <a:t>: Hyderabad generates </a:t>
            </a:r>
            <a:r>
              <a:rPr lang="en-IN" sz="1200" b="1" dirty="0"/>
              <a:t>19.73%</a:t>
            </a:r>
            <a:r>
              <a:rPr lang="en-IN" sz="1200" dirty="0"/>
              <a:t> more revenue than Delhi, demonstrating better overall performance.</a:t>
            </a:r>
          </a:p>
          <a:p>
            <a:endParaRPr lang="en-IN" sz="1200" dirty="0"/>
          </a:p>
          <a:p>
            <a:pPr>
              <a:buFont typeface="Arial" panose="020B0604020202020204" pitchFamily="34" charset="0"/>
              <a:buChar char="•"/>
            </a:pPr>
            <a:r>
              <a:rPr lang="en-IN" sz="1200" b="1" dirty="0"/>
              <a:t>Bangalore vs. Delhi</a:t>
            </a:r>
            <a:r>
              <a:rPr lang="en-IN" sz="1200" dirty="0"/>
              <a:t>: Bangalore’s revenue is </a:t>
            </a:r>
            <a:r>
              <a:rPr lang="en-IN" sz="1200" b="1" dirty="0"/>
              <a:t>42.86%</a:t>
            </a:r>
            <a:r>
              <a:rPr lang="en-IN" sz="1200" dirty="0"/>
              <a:t> higher than Delhi’s, further emphasizing the performance gap.</a:t>
            </a:r>
          </a:p>
          <a:p>
            <a:endParaRPr lang="en-IN" sz="1400" dirty="0"/>
          </a:p>
          <a:p>
            <a:r>
              <a:rPr lang="en-US" sz="1400" b="1" dirty="0"/>
              <a:t>Improvement:</a:t>
            </a:r>
          </a:p>
          <a:p>
            <a:r>
              <a:rPr lang="en-US" sz="1200" b="1" dirty="0"/>
              <a:t>Mumbai</a:t>
            </a:r>
            <a:r>
              <a:rPr lang="en-US" sz="1200" dirty="0"/>
              <a:t> stands out as the top performer, with significant leads over the other cities in both revenue. To replicate Mumbai’s success, future growth efforts should focus on improving performance in </a:t>
            </a:r>
            <a:r>
              <a:rPr lang="en-US" sz="1200" b="1" dirty="0"/>
              <a:t>Bangalore</a:t>
            </a:r>
            <a:r>
              <a:rPr lang="en-US" sz="1200" dirty="0"/>
              <a:t> and </a:t>
            </a:r>
            <a:r>
              <a:rPr lang="en-US" sz="1200" b="1" dirty="0"/>
              <a:t>Delhi</a:t>
            </a:r>
            <a:r>
              <a:rPr lang="en-US" sz="1200" dirty="0"/>
              <a:t>, with particular attention needed for </a:t>
            </a:r>
            <a:r>
              <a:rPr lang="en-US" sz="1200" b="1" dirty="0"/>
              <a:t>Delhi</a:t>
            </a:r>
            <a:r>
              <a:rPr lang="en-US" sz="1200" dirty="0"/>
              <a:t>, the current underperformer. Enhancing customer experience and targeted marketing strategies will be key to driving future revenue growth in these cities.</a:t>
            </a:r>
          </a:p>
          <a:p>
            <a:endParaRPr lang="en-IN" dirty="0"/>
          </a:p>
        </p:txBody>
      </p:sp>
      <p:pic>
        <p:nvPicPr>
          <p:cNvPr id="10" name="Picture 9">
            <a:extLst>
              <a:ext uri="{FF2B5EF4-FFF2-40B4-BE49-F238E27FC236}">
                <a16:creationId xmlns:a16="http://schemas.microsoft.com/office/drawing/2014/main" id="{9296AAA2-14D0-8889-A1BD-7D1C6D85D915}"/>
              </a:ext>
            </a:extLst>
          </p:cNvPr>
          <p:cNvPicPr>
            <a:picLocks noChangeAspect="1"/>
          </p:cNvPicPr>
          <p:nvPr/>
        </p:nvPicPr>
        <p:blipFill>
          <a:blip r:embed="rId2"/>
          <a:stretch>
            <a:fillRect/>
          </a:stretch>
        </p:blipFill>
        <p:spPr>
          <a:xfrm>
            <a:off x="140243" y="856021"/>
            <a:ext cx="6358880" cy="4788309"/>
          </a:xfrm>
          <a:prstGeom prst="rect">
            <a:avLst/>
          </a:prstGeom>
        </p:spPr>
      </p:pic>
      <p:sp>
        <p:nvSpPr>
          <p:cNvPr id="11" name="TextBox 10">
            <a:extLst>
              <a:ext uri="{FF2B5EF4-FFF2-40B4-BE49-F238E27FC236}">
                <a16:creationId xmlns:a16="http://schemas.microsoft.com/office/drawing/2014/main" id="{5D83C4C3-980C-9CB1-29DC-8C193DF3D2B6}"/>
              </a:ext>
            </a:extLst>
          </p:cNvPr>
          <p:cNvSpPr txBox="1"/>
          <p:nvPr/>
        </p:nvSpPr>
        <p:spPr>
          <a:xfrm>
            <a:off x="69133" y="271923"/>
            <a:ext cx="5751871" cy="400110"/>
          </a:xfrm>
          <a:prstGeom prst="rect">
            <a:avLst/>
          </a:prstGeom>
          <a:noFill/>
        </p:spPr>
        <p:txBody>
          <a:bodyPr wrap="square" rtlCol="0">
            <a:spAutoFit/>
          </a:bodyPr>
          <a:lstStyle/>
          <a:p>
            <a:r>
              <a:rPr lang="en-IN" dirty="0"/>
              <a:t> </a:t>
            </a:r>
            <a:r>
              <a:rPr lang="en-IN" sz="2000" b="1" dirty="0">
                <a:solidFill>
                  <a:schemeClr val="tx2">
                    <a:lumMod val="50000"/>
                  </a:schemeClr>
                </a:solidFill>
              </a:rPr>
              <a:t>Cities</a:t>
            </a:r>
          </a:p>
        </p:txBody>
      </p:sp>
    </p:spTree>
    <p:extLst>
      <p:ext uri="{BB962C8B-B14F-4D97-AF65-F5344CB8AC3E}">
        <p14:creationId xmlns:p14="http://schemas.microsoft.com/office/powerpoint/2010/main" val="40219946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descr="Calendar">
            <a:extLst>
              <a:ext uri="{FF2B5EF4-FFF2-40B4-BE49-F238E27FC236}">
                <a16:creationId xmlns:a16="http://schemas.microsoft.com/office/drawing/2014/main" id="{F4592376-3D23-3A37-7C1E-138EDD65263D}"/>
              </a:ext>
            </a:extLst>
          </p:cNvPr>
          <p:cNvPicPr>
            <a:picLocks noChangeAspect="1"/>
          </p:cNvPicPr>
          <p:nvPr/>
        </p:nvPicPr>
        <p:blipFill>
          <a:blip r:embed="rId2">
            <a:duotone>
              <a:prstClr val="black"/>
              <a:schemeClr val="tx2">
                <a:tint val="45000"/>
                <a:satMod val="400000"/>
              </a:schemeClr>
            </a:duotone>
            <a:alphaModFix amt="40000"/>
          </a:blip>
          <a:srcRect t="15361" b="370"/>
          <a:stretch/>
        </p:blipFill>
        <p:spPr>
          <a:xfrm>
            <a:off x="20" y="10"/>
            <a:ext cx="12191980" cy="6857991"/>
          </a:xfrm>
          <a:prstGeom prst="rect">
            <a:avLst/>
          </a:prstGeom>
        </p:spPr>
      </p:pic>
      <p:sp>
        <p:nvSpPr>
          <p:cNvPr id="2" name="Title 1">
            <a:extLst>
              <a:ext uri="{FF2B5EF4-FFF2-40B4-BE49-F238E27FC236}">
                <a16:creationId xmlns:a16="http://schemas.microsoft.com/office/drawing/2014/main" id="{A63F68BA-967D-20DC-4BB0-5424180C7CFA}"/>
              </a:ext>
            </a:extLst>
          </p:cNvPr>
          <p:cNvSpPr>
            <a:spLocks noGrp="1"/>
          </p:cNvSpPr>
          <p:nvPr>
            <p:ph type="title"/>
          </p:nvPr>
        </p:nvSpPr>
        <p:spPr>
          <a:xfrm>
            <a:off x="1097280" y="758952"/>
            <a:ext cx="10058400" cy="3566160"/>
          </a:xfrm>
        </p:spPr>
        <p:txBody>
          <a:bodyPr vert="horz" lIns="91440" tIns="45720" rIns="91440" bIns="45720" rtlCol="0" anchor="b">
            <a:normAutofit/>
          </a:bodyPr>
          <a:lstStyle/>
          <a:p>
            <a:r>
              <a:rPr lang="en-US" sz="8000" b="1">
                <a:solidFill>
                  <a:schemeClr val="tx1">
                    <a:lumMod val="85000"/>
                    <a:lumOff val="15000"/>
                  </a:schemeClr>
                </a:solidFill>
              </a:rPr>
              <a:t>Booking</a:t>
            </a:r>
            <a:r>
              <a:rPr lang="en-US" sz="8000">
                <a:solidFill>
                  <a:schemeClr val="tx1">
                    <a:lumMod val="85000"/>
                    <a:lumOff val="15000"/>
                  </a:schemeClr>
                </a:solidFill>
              </a:rPr>
              <a:t> </a:t>
            </a:r>
            <a:endParaRPr lang="en-US" sz="8000" b="1">
              <a:solidFill>
                <a:schemeClr val="tx1">
                  <a:lumMod val="85000"/>
                  <a:lumOff val="15000"/>
                </a:schemeClr>
              </a:solidFill>
            </a:endParaRPr>
          </a:p>
        </p:txBody>
      </p:sp>
    </p:spTree>
    <p:extLst>
      <p:ext uri="{BB962C8B-B14F-4D97-AF65-F5344CB8AC3E}">
        <p14:creationId xmlns:p14="http://schemas.microsoft.com/office/powerpoint/2010/main" val="451412225"/>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AEE5402-5AA1-C3BE-E416-4916419AAE26}"/>
              </a:ext>
            </a:extLst>
          </p:cNvPr>
          <p:cNvPicPr>
            <a:picLocks noChangeAspect="1"/>
          </p:cNvPicPr>
          <p:nvPr/>
        </p:nvPicPr>
        <p:blipFill>
          <a:blip r:embed="rId2"/>
          <a:stretch>
            <a:fillRect/>
          </a:stretch>
        </p:blipFill>
        <p:spPr>
          <a:xfrm>
            <a:off x="327324" y="1216632"/>
            <a:ext cx="6230792" cy="4424735"/>
          </a:xfrm>
          <a:prstGeom prst="rect">
            <a:avLst/>
          </a:prstGeom>
        </p:spPr>
      </p:pic>
      <p:sp>
        <p:nvSpPr>
          <p:cNvPr id="2" name="Rectangle 1">
            <a:extLst>
              <a:ext uri="{FF2B5EF4-FFF2-40B4-BE49-F238E27FC236}">
                <a16:creationId xmlns:a16="http://schemas.microsoft.com/office/drawing/2014/main" id="{D3671CB7-A2F0-9352-463F-21AE8328C7C1}"/>
              </a:ext>
            </a:extLst>
          </p:cNvPr>
          <p:cNvSpPr>
            <a:spLocks noChangeArrowheads="1"/>
          </p:cNvSpPr>
          <p:nvPr/>
        </p:nvSpPr>
        <p:spPr bwMode="auto">
          <a:xfrm rot="10800000" flipV="1">
            <a:off x="6626942" y="1216632"/>
            <a:ext cx="5447071" cy="3539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Arial" panose="020B0604020202020204" pitchFamily="34" charset="0"/>
              </a:rPr>
              <a:t>May:</a:t>
            </a:r>
            <a:r>
              <a:rPr kumimoji="0" lang="en-US" altLang="en-US" sz="1400" b="0" i="0" u="none" strike="noStrike" cap="none" normalizeH="0" baseline="0" dirty="0">
                <a:ln>
                  <a:noFill/>
                </a:ln>
                <a:solidFill>
                  <a:schemeClr val="tx1"/>
                </a:solidFill>
                <a:effectLst/>
                <a:latin typeface="Arial" panose="020B0604020202020204" pitchFamily="34" charset="0"/>
              </a:rPr>
              <a:t> 32.0k bookings, reflecting strong performance.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Arial" panose="020B0604020202020204" pitchFamily="34" charset="0"/>
              </a:rPr>
              <a:t>June:</a:t>
            </a:r>
            <a:r>
              <a:rPr kumimoji="0" lang="en-US" altLang="en-US" sz="1400" b="0" i="0" u="none" strike="noStrike" cap="none" normalizeH="0" baseline="0" dirty="0">
                <a:ln>
                  <a:noFill/>
                </a:ln>
                <a:solidFill>
                  <a:schemeClr val="tx1"/>
                </a:solidFill>
                <a:effectLst/>
                <a:latin typeface="Arial" panose="020B0604020202020204" pitchFamily="34" charset="0"/>
              </a:rPr>
              <a:t> 30.6k bookings, a slight decrease of -4.48% compared to May, attributed to seasonal fluctuations and market conditions.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Arial" panose="020B0604020202020204" pitchFamily="34" charset="0"/>
              </a:rPr>
              <a:t>July:</a:t>
            </a:r>
            <a:r>
              <a:rPr kumimoji="0" lang="en-US" altLang="en-US" sz="1400" b="0" i="0" u="none" strike="noStrike" cap="none" normalizeH="0" baseline="0" dirty="0">
                <a:ln>
                  <a:noFill/>
                </a:ln>
                <a:solidFill>
                  <a:schemeClr val="tx1"/>
                </a:solidFill>
                <a:effectLst/>
                <a:latin typeface="Arial" panose="020B0604020202020204" pitchFamily="34" charset="0"/>
              </a:rPr>
              <a:t> 31.8k bookings, a slight increase of 3.83% compared to June, indicating a recovery likely driven by market adjustments or other seasonal factors.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Arial" panose="020B0604020202020204" pitchFamily="34" charset="0"/>
              </a:rPr>
              <a:t>Overall trend:</a:t>
            </a:r>
            <a:r>
              <a:rPr kumimoji="0" lang="en-US" altLang="en-US" sz="1400" b="0" i="0" u="none" strike="noStrike" cap="none" normalizeH="0" baseline="0" dirty="0">
                <a:ln>
                  <a:noFill/>
                </a:ln>
                <a:solidFill>
                  <a:schemeClr val="tx1"/>
                </a:solidFill>
                <a:effectLst/>
                <a:latin typeface="Arial" panose="020B0604020202020204" pitchFamily="34" charset="0"/>
              </a:rPr>
              <a:t> Bookings experienced typical seasonal fluctuations, with a dip in June followed by a recovery in July</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400" b="0" i="0" u="none" strike="noStrike" cap="none" normalizeH="0" baseline="0" dirty="0">
              <a:ln>
                <a:noFill/>
              </a:ln>
              <a:solidFill>
                <a:schemeClr val="tx1"/>
              </a:solidFill>
              <a:effectLst/>
              <a:latin typeface="Arial" panose="020B0604020202020204" pitchFamily="34" charset="0"/>
            </a:endParaRPr>
          </a:p>
          <a:p>
            <a:pPr defTabSz="914400" eaLnBrk="0" fontAlgn="base" hangingPunct="0">
              <a:spcBef>
                <a:spcPct val="0"/>
              </a:spcBef>
              <a:spcAft>
                <a:spcPct val="0"/>
              </a:spcAft>
            </a:pPr>
            <a:r>
              <a:rPr kumimoji="0" lang="en-US" altLang="en-US" sz="1400" b="0" i="0" u="none" strike="noStrike" cap="none" normalizeH="0" baseline="0" dirty="0">
                <a:ln>
                  <a:noFill/>
                </a:ln>
                <a:solidFill>
                  <a:schemeClr val="tx1"/>
                </a:solidFill>
                <a:effectLst/>
                <a:latin typeface="Arial" panose="020B0604020202020204" pitchFamily="34" charset="0"/>
              </a:rPr>
              <a:t> Bookings fluctuated between a -4.6% decrease and a 4% increase, showing typical seasonal variation and market conditions over the three months.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400" b="0" i="0" u="none" strike="noStrike" cap="none" normalizeH="0" baseline="0" dirty="0">
              <a:ln>
                <a:noFill/>
              </a:ln>
              <a:solidFill>
                <a:schemeClr val="tx1"/>
              </a:solidFill>
              <a:effectLst/>
              <a:latin typeface="Arial" panose="020B0604020202020204" pitchFamily="34" charset="0"/>
            </a:endParaRPr>
          </a:p>
        </p:txBody>
      </p:sp>
      <p:sp>
        <p:nvSpPr>
          <p:cNvPr id="4" name="TextBox 3">
            <a:extLst>
              <a:ext uri="{FF2B5EF4-FFF2-40B4-BE49-F238E27FC236}">
                <a16:creationId xmlns:a16="http://schemas.microsoft.com/office/drawing/2014/main" id="{B7686A0E-C94C-456D-AED9-68CDEF01B069}"/>
              </a:ext>
            </a:extLst>
          </p:cNvPr>
          <p:cNvSpPr txBox="1"/>
          <p:nvPr/>
        </p:nvSpPr>
        <p:spPr>
          <a:xfrm>
            <a:off x="737419" y="373626"/>
            <a:ext cx="5574891" cy="400110"/>
          </a:xfrm>
          <a:prstGeom prst="rect">
            <a:avLst/>
          </a:prstGeom>
          <a:noFill/>
        </p:spPr>
        <p:txBody>
          <a:bodyPr wrap="square" rtlCol="0">
            <a:spAutoFit/>
          </a:bodyPr>
          <a:lstStyle/>
          <a:p>
            <a:r>
              <a:rPr lang="en-IN" sz="2000" b="1" dirty="0">
                <a:solidFill>
                  <a:schemeClr val="tx2"/>
                </a:solidFill>
              </a:rPr>
              <a:t>Month</a:t>
            </a:r>
          </a:p>
        </p:txBody>
      </p:sp>
    </p:spTree>
    <p:extLst>
      <p:ext uri="{BB962C8B-B14F-4D97-AF65-F5344CB8AC3E}">
        <p14:creationId xmlns:p14="http://schemas.microsoft.com/office/powerpoint/2010/main" val="38095733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949AA6C-F755-F2B3-FC65-69CEE6DC0561}"/>
              </a:ext>
            </a:extLst>
          </p:cNvPr>
          <p:cNvPicPr>
            <a:picLocks noChangeAspect="1"/>
          </p:cNvPicPr>
          <p:nvPr/>
        </p:nvPicPr>
        <p:blipFill>
          <a:blip r:embed="rId2"/>
          <a:stretch>
            <a:fillRect/>
          </a:stretch>
        </p:blipFill>
        <p:spPr>
          <a:xfrm>
            <a:off x="604684" y="452283"/>
            <a:ext cx="10309122" cy="2880853"/>
          </a:xfrm>
          <a:prstGeom prst="rect">
            <a:avLst/>
          </a:prstGeom>
        </p:spPr>
      </p:pic>
      <p:sp>
        <p:nvSpPr>
          <p:cNvPr id="2" name="TextBox 1">
            <a:extLst>
              <a:ext uri="{FF2B5EF4-FFF2-40B4-BE49-F238E27FC236}">
                <a16:creationId xmlns:a16="http://schemas.microsoft.com/office/drawing/2014/main" id="{EF5B0696-2C35-8DA0-683B-82CB016F513A}"/>
              </a:ext>
            </a:extLst>
          </p:cNvPr>
          <p:cNvSpPr txBox="1"/>
          <p:nvPr/>
        </p:nvSpPr>
        <p:spPr>
          <a:xfrm>
            <a:off x="0" y="3185653"/>
            <a:ext cx="12191999" cy="4093428"/>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endParaRPr lang="en-US" dirty="0"/>
          </a:p>
          <a:p>
            <a:r>
              <a:rPr lang="en-US" sz="1600" dirty="0"/>
              <a:t>From </a:t>
            </a:r>
            <a:r>
              <a:rPr lang="en-US" sz="1600" b="1" dirty="0"/>
              <a:t>Week 19 to Week 29</a:t>
            </a:r>
            <a:r>
              <a:rPr lang="en-US" sz="1600" dirty="0"/>
              <a:t>, the weekly bookings have shown a relatively consistent trend, the fluctuations between </a:t>
            </a:r>
            <a:r>
              <a:rPr lang="en-US" sz="1600" b="1" dirty="0"/>
              <a:t>6.3k to 7.8k</a:t>
            </a:r>
            <a:r>
              <a:rPr lang="en-US" sz="1600" dirty="0"/>
              <a:t> represent an increase of approximately </a:t>
            </a:r>
            <a:r>
              <a:rPr lang="en-US" sz="1600" b="1" dirty="0"/>
              <a:t>23.81%</a:t>
            </a:r>
            <a:r>
              <a:rPr lang="en-US" sz="1600" dirty="0"/>
              <a:t> and a decrease of </a:t>
            </a:r>
            <a:r>
              <a:rPr lang="en-US" sz="1600" b="1" dirty="0"/>
              <a:t>19.23%.</a:t>
            </a:r>
            <a:r>
              <a:rPr lang="en-US" sz="1600" dirty="0"/>
              <a:t>This indicates a moderate level of volatility, which could be influenced by regular business cycles, demand shifts, or external market factors. Despite the fluctuations, bookings remained within a certain range, reflecting stable performance with periodic peaks and dips.</a:t>
            </a:r>
          </a:p>
          <a:p>
            <a:endParaRPr lang="en-US" sz="1600" dirty="0"/>
          </a:p>
          <a:p>
            <a:r>
              <a:rPr lang="en-US" sz="1600" dirty="0"/>
              <a:t>However, from </a:t>
            </a:r>
            <a:r>
              <a:rPr lang="en-US" sz="1600" b="1" dirty="0"/>
              <a:t>Week 30 to Week 31</a:t>
            </a:r>
            <a:r>
              <a:rPr lang="en-US" sz="1600" dirty="0"/>
              <a:t>, the bookings slightly decreased to the range of </a:t>
            </a:r>
            <a:r>
              <a:rPr lang="en-US" sz="1600" b="1" dirty="0"/>
              <a:t>6.3k</a:t>
            </a:r>
            <a:r>
              <a:rPr lang="en-US" sz="1600" dirty="0"/>
              <a:t>, maintaining the lower end of the previous range. This suggests potential seasonal or operational factors that contributed to the reduced bookings during this period.</a:t>
            </a:r>
          </a:p>
          <a:p>
            <a:r>
              <a:rPr lang="en-US" sz="1600" dirty="0"/>
              <a:t>The most significant change occurs in </a:t>
            </a:r>
            <a:r>
              <a:rPr lang="en-US" sz="1600" b="1" dirty="0"/>
              <a:t>Week 32</a:t>
            </a:r>
            <a:r>
              <a:rPr lang="en-US" sz="1600" dirty="0"/>
              <a:t>, where the bookings drastically drop to </a:t>
            </a:r>
            <a:r>
              <a:rPr lang="en-US" sz="1600" b="1" dirty="0"/>
              <a:t>1.2k</a:t>
            </a:r>
            <a:r>
              <a:rPr lang="en-US" sz="1600" dirty="0"/>
              <a:t>, reflecting an 81.58% decrease compared to the prior week. This sharp decline is an outlier and may indicate a serious disruption, potentially caused by factors such as seasonal changes, market conditions, or an unforeseen external event.</a:t>
            </a:r>
          </a:p>
          <a:p>
            <a:endParaRPr lang="en-US" sz="1600" dirty="0"/>
          </a:p>
          <a:p>
            <a:r>
              <a:rPr lang="en-US" sz="1600" dirty="0"/>
              <a:t>Understanding the specific causes behind these fluctuations is crucial for future planning and for minimizing the impact of such sharp drops. In particular, exploring the external factors that led to the 81.58% decrease in </a:t>
            </a:r>
            <a:r>
              <a:rPr lang="en-US" sz="1600" b="1" dirty="0"/>
              <a:t>Week 32</a:t>
            </a:r>
            <a:r>
              <a:rPr lang="en-US" sz="1600" dirty="0"/>
              <a:t> will help anticipate similar challenges in the future and enable more resilient strategies moving forward</a:t>
            </a:r>
          </a:p>
          <a:p>
            <a:endParaRPr lang="en-IN" dirty="0"/>
          </a:p>
        </p:txBody>
      </p:sp>
      <p:sp>
        <p:nvSpPr>
          <p:cNvPr id="4" name="TextBox 3">
            <a:extLst>
              <a:ext uri="{FF2B5EF4-FFF2-40B4-BE49-F238E27FC236}">
                <a16:creationId xmlns:a16="http://schemas.microsoft.com/office/drawing/2014/main" id="{1820C63F-1B29-65B2-6334-D8B0FD93C4C4}"/>
              </a:ext>
            </a:extLst>
          </p:cNvPr>
          <p:cNvSpPr txBox="1"/>
          <p:nvPr/>
        </p:nvSpPr>
        <p:spPr>
          <a:xfrm>
            <a:off x="604684" y="52173"/>
            <a:ext cx="4930877" cy="400110"/>
          </a:xfrm>
          <a:prstGeom prst="rect">
            <a:avLst/>
          </a:prstGeom>
          <a:noFill/>
        </p:spPr>
        <p:txBody>
          <a:bodyPr wrap="square" rtlCol="0">
            <a:spAutoFit/>
          </a:bodyPr>
          <a:lstStyle/>
          <a:p>
            <a:r>
              <a:rPr lang="en-IN" sz="2000" b="1" dirty="0">
                <a:solidFill>
                  <a:schemeClr val="tx2"/>
                </a:solidFill>
              </a:rPr>
              <a:t>Weeks</a:t>
            </a:r>
          </a:p>
        </p:txBody>
      </p:sp>
    </p:spTree>
    <p:extLst>
      <p:ext uri="{BB962C8B-B14F-4D97-AF65-F5344CB8AC3E}">
        <p14:creationId xmlns:p14="http://schemas.microsoft.com/office/powerpoint/2010/main" val="38881580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10FBB15-D29A-D0ED-E812-8D759BD5CA97}"/>
              </a:ext>
            </a:extLst>
          </p:cNvPr>
          <p:cNvPicPr>
            <a:picLocks noChangeAspect="1"/>
          </p:cNvPicPr>
          <p:nvPr/>
        </p:nvPicPr>
        <p:blipFill>
          <a:blip r:embed="rId2"/>
          <a:stretch>
            <a:fillRect/>
          </a:stretch>
        </p:blipFill>
        <p:spPr>
          <a:xfrm>
            <a:off x="178934" y="786073"/>
            <a:ext cx="6762640" cy="4620854"/>
          </a:xfrm>
          <a:prstGeom prst="rect">
            <a:avLst/>
          </a:prstGeom>
        </p:spPr>
      </p:pic>
      <p:sp>
        <p:nvSpPr>
          <p:cNvPr id="2" name="TextBox 1">
            <a:extLst>
              <a:ext uri="{FF2B5EF4-FFF2-40B4-BE49-F238E27FC236}">
                <a16:creationId xmlns:a16="http://schemas.microsoft.com/office/drawing/2014/main" id="{A5DBB3EA-9AC4-C6EF-E723-1C0E176306B6}"/>
              </a:ext>
            </a:extLst>
          </p:cNvPr>
          <p:cNvSpPr txBox="1"/>
          <p:nvPr/>
        </p:nvSpPr>
        <p:spPr>
          <a:xfrm>
            <a:off x="7020233" y="786073"/>
            <a:ext cx="5171767" cy="6186309"/>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sz="1400" b="1" dirty="0"/>
              <a:t>Performance Comparison: Atliq Properties (Bookings) - Percentage Breakdown</a:t>
            </a:r>
          </a:p>
          <a:p>
            <a:pPr>
              <a:buFont typeface="Arial" panose="020B0604020202020204" pitchFamily="34" charset="0"/>
              <a:buChar char="•"/>
            </a:pPr>
            <a:r>
              <a:rPr lang="en-US" sz="1400" b="1" dirty="0"/>
              <a:t>Atliq Exotica and Atliq Palace:</a:t>
            </a:r>
            <a:endParaRPr lang="en-US" sz="1400" dirty="0"/>
          </a:p>
          <a:p>
            <a:pPr marL="742950" lvl="1" indent="-285750">
              <a:buFont typeface="Arial" panose="020B0604020202020204" pitchFamily="34" charset="0"/>
              <a:buChar char="•"/>
            </a:pPr>
            <a:r>
              <a:rPr lang="en-US" sz="1400" dirty="0"/>
              <a:t>Both lead with </a:t>
            </a:r>
            <a:r>
              <a:rPr lang="en-US" sz="1400" b="1" dirty="0"/>
              <a:t>16,600 bookings</a:t>
            </a:r>
            <a:r>
              <a:rPr lang="en-US" sz="1400" dirty="0"/>
              <a:t>, showcasing </a:t>
            </a:r>
            <a:r>
              <a:rPr lang="en-US" sz="1400" b="1" dirty="0"/>
              <a:t>100%</a:t>
            </a:r>
            <a:r>
              <a:rPr lang="en-US" sz="1400" dirty="0"/>
              <a:t> of the top booking performance in this comparison.</a:t>
            </a:r>
          </a:p>
          <a:p>
            <a:pPr>
              <a:buFont typeface="Arial" panose="020B0604020202020204" pitchFamily="34" charset="0"/>
              <a:buChar char="•"/>
            </a:pPr>
            <a:r>
              <a:rPr lang="en-US" sz="1400" b="1" dirty="0"/>
              <a:t>Atliq City:</a:t>
            </a:r>
            <a:endParaRPr lang="en-US" sz="1400" dirty="0"/>
          </a:p>
          <a:p>
            <a:pPr marL="742950" lvl="1" indent="-285750">
              <a:buFont typeface="Arial" panose="020B0604020202020204" pitchFamily="34" charset="0"/>
              <a:buChar char="•"/>
            </a:pPr>
            <a:r>
              <a:rPr lang="en-US" sz="1400" b="1" dirty="0"/>
              <a:t>16,400 bookings</a:t>
            </a:r>
            <a:r>
              <a:rPr lang="en-US" sz="1400" dirty="0"/>
              <a:t>, showing a </a:t>
            </a:r>
            <a:r>
              <a:rPr lang="en-US" sz="1400" b="1" dirty="0"/>
              <a:t>1.20%</a:t>
            </a:r>
            <a:r>
              <a:rPr lang="en-US" sz="1400" dirty="0"/>
              <a:t> decrease compared to Atliq Exotica and Atliq Palace.</a:t>
            </a:r>
          </a:p>
          <a:p>
            <a:pPr>
              <a:buFont typeface="Arial" panose="020B0604020202020204" pitchFamily="34" charset="0"/>
              <a:buChar char="•"/>
            </a:pPr>
            <a:r>
              <a:rPr lang="en-US" sz="1400" b="1" dirty="0"/>
              <a:t>Atliq Blu:</a:t>
            </a:r>
            <a:endParaRPr lang="en-US" sz="1400" dirty="0"/>
          </a:p>
          <a:p>
            <a:pPr marL="742950" lvl="1" indent="-285750">
              <a:buFont typeface="Arial" panose="020B0604020202020204" pitchFamily="34" charset="0"/>
              <a:buChar char="•"/>
            </a:pPr>
            <a:r>
              <a:rPr lang="en-US" sz="1400" b="1" dirty="0"/>
              <a:t>15,300 bookings</a:t>
            </a:r>
            <a:r>
              <a:rPr lang="en-US" sz="1400" dirty="0"/>
              <a:t>, showing a </a:t>
            </a:r>
            <a:r>
              <a:rPr lang="en-US" sz="1400" b="1" dirty="0"/>
              <a:t>7.89%</a:t>
            </a:r>
            <a:r>
              <a:rPr lang="en-US" sz="1400" dirty="0"/>
              <a:t> decrease compared to Atliq Exotica and Atliq Palace.</a:t>
            </a:r>
          </a:p>
          <a:p>
            <a:pPr>
              <a:buFont typeface="Arial" panose="020B0604020202020204" pitchFamily="34" charset="0"/>
              <a:buChar char="•"/>
            </a:pPr>
            <a:r>
              <a:rPr lang="en-US" sz="1400" b="1" dirty="0"/>
              <a:t>Atliq Bay:</a:t>
            </a:r>
            <a:endParaRPr lang="en-US" sz="1400" dirty="0"/>
          </a:p>
          <a:p>
            <a:pPr marL="742950" lvl="1" indent="-285750">
              <a:buFont typeface="Arial" panose="020B0604020202020204" pitchFamily="34" charset="0"/>
              <a:buChar char="•"/>
            </a:pPr>
            <a:r>
              <a:rPr lang="en-US" sz="1400" b="1" dirty="0"/>
              <a:t>15,000 bookings</a:t>
            </a:r>
            <a:r>
              <a:rPr lang="en-US" sz="1400" dirty="0"/>
              <a:t>, showing a </a:t>
            </a:r>
            <a:r>
              <a:rPr lang="en-US" sz="1400" b="1" dirty="0"/>
              <a:t>9.64%</a:t>
            </a:r>
            <a:r>
              <a:rPr lang="en-US" sz="1400" dirty="0"/>
              <a:t> decrease compared to Atliq Exotica and Atliq Palace.</a:t>
            </a:r>
          </a:p>
          <a:p>
            <a:pPr>
              <a:buFont typeface="Arial" panose="020B0604020202020204" pitchFamily="34" charset="0"/>
              <a:buChar char="•"/>
            </a:pPr>
            <a:r>
              <a:rPr lang="en-US" sz="1400" b="1" dirty="0"/>
              <a:t>Atliq Grands:</a:t>
            </a:r>
            <a:endParaRPr lang="en-US" sz="1400" dirty="0"/>
          </a:p>
          <a:p>
            <a:pPr marL="742950" lvl="1" indent="-285750">
              <a:buFont typeface="Arial" panose="020B0604020202020204" pitchFamily="34" charset="0"/>
              <a:buChar char="•"/>
            </a:pPr>
            <a:r>
              <a:rPr lang="en-US" sz="1400" b="1" dirty="0"/>
              <a:t>11,900 bookings</a:t>
            </a:r>
            <a:r>
              <a:rPr lang="en-US" sz="1400" dirty="0"/>
              <a:t>, showing a </a:t>
            </a:r>
            <a:r>
              <a:rPr lang="en-US" sz="1400" b="1" dirty="0"/>
              <a:t>28.62%</a:t>
            </a:r>
            <a:r>
              <a:rPr lang="en-US" sz="1400" dirty="0"/>
              <a:t> decrease compared to Atliq Exotica and Atliq Palace.</a:t>
            </a:r>
          </a:p>
          <a:p>
            <a:pPr>
              <a:buFont typeface="Arial" panose="020B0604020202020204" pitchFamily="34" charset="0"/>
              <a:buChar char="•"/>
            </a:pPr>
            <a:r>
              <a:rPr lang="en-US" sz="1400" b="1" dirty="0"/>
              <a:t>Atliq Seasons:</a:t>
            </a:r>
            <a:endParaRPr lang="en-US" sz="1400" dirty="0"/>
          </a:p>
          <a:p>
            <a:pPr marL="742950" lvl="1" indent="-285750">
              <a:buFont typeface="Arial" panose="020B0604020202020204" pitchFamily="34" charset="0"/>
              <a:buChar char="•"/>
            </a:pPr>
            <a:r>
              <a:rPr lang="en-US" sz="1400" b="1" dirty="0"/>
              <a:t>2,800 bookings</a:t>
            </a:r>
            <a:r>
              <a:rPr lang="en-US" sz="1400" dirty="0"/>
              <a:t>, showing an </a:t>
            </a:r>
            <a:r>
              <a:rPr lang="en-US" sz="1400" b="1" dirty="0"/>
              <a:t>83.12%</a:t>
            </a:r>
            <a:r>
              <a:rPr lang="en-US" sz="1400" dirty="0"/>
              <a:t> decrease compared to Atliq Exotica and Atliq Palace.</a:t>
            </a:r>
          </a:p>
          <a:p>
            <a:r>
              <a:rPr lang="en-US" sz="1400" b="1" dirty="0"/>
              <a:t>Conclusion:</a:t>
            </a:r>
          </a:p>
          <a:p>
            <a:pPr>
              <a:buFont typeface="Arial" panose="020B0604020202020204" pitchFamily="34" charset="0"/>
              <a:buChar char="•"/>
            </a:pPr>
            <a:r>
              <a:rPr lang="en-US" sz="1400" b="1" dirty="0"/>
              <a:t>Atliq Exotica</a:t>
            </a:r>
            <a:r>
              <a:rPr lang="en-US" sz="1400" dirty="0"/>
              <a:t> and </a:t>
            </a:r>
            <a:r>
              <a:rPr lang="en-US" sz="1400" b="1" dirty="0"/>
              <a:t>Atliq Palace</a:t>
            </a:r>
            <a:r>
              <a:rPr lang="en-US" sz="1400" dirty="0"/>
              <a:t> are leading in bookings.</a:t>
            </a:r>
          </a:p>
          <a:p>
            <a:pPr>
              <a:buFont typeface="Arial" panose="020B0604020202020204" pitchFamily="34" charset="0"/>
              <a:buChar char="•"/>
            </a:pPr>
            <a:r>
              <a:rPr lang="en-US" sz="1400" b="1" dirty="0"/>
              <a:t>Atliq City</a:t>
            </a:r>
            <a:r>
              <a:rPr lang="en-US" sz="1400" dirty="0"/>
              <a:t> is close behind with a slight decline.</a:t>
            </a:r>
          </a:p>
          <a:p>
            <a:pPr>
              <a:buFont typeface="Arial" panose="020B0604020202020204" pitchFamily="34" charset="0"/>
              <a:buChar char="•"/>
            </a:pPr>
            <a:r>
              <a:rPr lang="en-US" sz="1400" b="1" dirty="0"/>
              <a:t>Atliq Blu</a:t>
            </a:r>
            <a:r>
              <a:rPr lang="en-US" sz="1400" dirty="0"/>
              <a:t>, </a:t>
            </a:r>
            <a:r>
              <a:rPr lang="en-US" sz="1400" b="1" dirty="0"/>
              <a:t>Atliq Bay</a:t>
            </a:r>
            <a:r>
              <a:rPr lang="en-US" sz="1400" dirty="0"/>
              <a:t>, and </a:t>
            </a:r>
            <a:r>
              <a:rPr lang="en-US" sz="1400" b="1" dirty="0"/>
              <a:t>Atliq Grands</a:t>
            </a:r>
            <a:r>
              <a:rPr lang="en-US" sz="1400" dirty="0"/>
              <a:t> show moderate declines.</a:t>
            </a:r>
          </a:p>
          <a:p>
            <a:pPr>
              <a:buFont typeface="Arial" panose="020B0604020202020204" pitchFamily="34" charset="0"/>
              <a:buChar char="•"/>
            </a:pPr>
            <a:r>
              <a:rPr lang="en-US" sz="1400" b="1" dirty="0"/>
              <a:t>Atliq Seasons</a:t>
            </a:r>
            <a:r>
              <a:rPr lang="en-US" sz="1400" dirty="0"/>
              <a:t> shows a sharp </a:t>
            </a:r>
            <a:r>
              <a:rPr lang="en-US" sz="1400" b="1" dirty="0"/>
              <a:t>83.12%</a:t>
            </a:r>
            <a:r>
              <a:rPr lang="en-US" sz="1400" dirty="0"/>
              <a:t> decrease, highlighting the need for significant improvement.</a:t>
            </a:r>
          </a:p>
          <a:p>
            <a:pPr lvl="1"/>
            <a:endParaRPr lang="en-US" sz="1400" dirty="0"/>
          </a:p>
          <a:p>
            <a:endParaRPr lang="en-IN" dirty="0"/>
          </a:p>
        </p:txBody>
      </p:sp>
      <p:sp>
        <p:nvSpPr>
          <p:cNvPr id="4" name="TextBox 3">
            <a:extLst>
              <a:ext uri="{FF2B5EF4-FFF2-40B4-BE49-F238E27FC236}">
                <a16:creationId xmlns:a16="http://schemas.microsoft.com/office/drawing/2014/main" id="{BF5A6AC3-D18D-DB1A-3540-67AE899C698E}"/>
              </a:ext>
            </a:extLst>
          </p:cNvPr>
          <p:cNvSpPr txBox="1"/>
          <p:nvPr/>
        </p:nvSpPr>
        <p:spPr>
          <a:xfrm>
            <a:off x="540774" y="285135"/>
            <a:ext cx="5289755" cy="400110"/>
          </a:xfrm>
          <a:prstGeom prst="rect">
            <a:avLst/>
          </a:prstGeom>
          <a:noFill/>
        </p:spPr>
        <p:txBody>
          <a:bodyPr wrap="square" rtlCol="0">
            <a:spAutoFit/>
          </a:bodyPr>
          <a:lstStyle/>
          <a:p>
            <a:r>
              <a:rPr lang="en-IN" sz="2000" b="1" dirty="0">
                <a:solidFill>
                  <a:schemeClr val="tx2"/>
                </a:solidFill>
              </a:rPr>
              <a:t>Properties</a:t>
            </a:r>
          </a:p>
        </p:txBody>
      </p:sp>
    </p:spTree>
    <p:extLst>
      <p:ext uri="{BB962C8B-B14F-4D97-AF65-F5344CB8AC3E}">
        <p14:creationId xmlns:p14="http://schemas.microsoft.com/office/powerpoint/2010/main" val="30820139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76BF050-D3AB-E44C-3DFB-7FEDF43C45D5}"/>
              </a:ext>
            </a:extLst>
          </p:cNvPr>
          <p:cNvPicPr>
            <a:picLocks noChangeAspect="1"/>
          </p:cNvPicPr>
          <p:nvPr/>
        </p:nvPicPr>
        <p:blipFill>
          <a:blip r:embed="rId2"/>
          <a:stretch>
            <a:fillRect/>
          </a:stretch>
        </p:blipFill>
        <p:spPr>
          <a:xfrm>
            <a:off x="199318" y="713948"/>
            <a:ext cx="6427624" cy="5229652"/>
          </a:xfrm>
          <a:prstGeom prst="rect">
            <a:avLst/>
          </a:prstGeom>
        </p:spPr>
      </p:pic>
      <p:sp>
        <p:nvSpPr>
          <p:cNvPr id="2" name="TextBox 1">
            <a:extLst>
              <a:ext uri="{FF2B5EF4-FFF2-40B4-BE49-F238E27FC236}">
                <a16:creationId xmlns:a16="http://schemas.microsoft.com/office/drawing/2014/main" id="{676699F1-E588-98A1-1E8C-A4DFEC8C6BE2}"/>
              </a:ext>
            </a:extLst>
          </p:cNvPr>
          <p:cNvSpPr txBox="1"/>
          <p:nvPr/>
        </p:nvSpPr>
        <p:spPr>
          <a:xfrm>
            <a:off x="6744929" y="796413"/>
            <a:ext cx="5447071" cy="5816977"/>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IN" b="1" dirty="0"/>
              <a:t>Booking Comparison:</a:t>
            </a:r>
          </a:p>
          <a:p>
            <a:pPr>
              <a:buFont typeface="Arial" panose="020B0604020202020204" pitchFamily="34" charset="0"/>
              <a:buChar char="•"/>
            </a:pPr>
            <a:r>
              <a:rPr lang="en-IN" sz="1400" b="1" dirty="0"/>
              <a:t>Mumbai vs. Hyderabad:</a:t>
            </a:r>
            <a:endParaRPr lang="en-IN" sz="1400" dirty="0"/>
          </a:p>
          <a:p>
            <a:pPr marL="742950" lvl="1" indent="-285750">
              <a:buFont typeface="Arial" panose="020B0604020202020204" pitchFamily="34" charset="0"/>
              <a:buChar char="•"/>
            </a:pPr>
            <a:r>
              <a:rPr lang="en-IN" sz="1400" dirty="0"/>
              <a:t>Mumbai has </a:t>
            </a:r>
            <a:r>
              <a:rPr lang="en-IN" sz="1400" b="1" dirty="0"/>
              <a:t>24.74%</a:t>
            </a:r>
            <a:r>
              <a:rPr lang="en-IN" sz="1400" dirty="0"/>
              <a:t> more bookings than Hyderabad.</a:t>
            </a:r>
          </a:p>
          <a:p>
            <a:pPr>
              <a:buFont typeface="Arial" panose="020B0604020202020204" pitchFamily="34" charset="0"/>
              <a:buChar char="•"/>
            </a:pPr>
            <a:r>
              <a:rPr lang="en-IN" sz="1400" b="1" dirty="0"/>
              <a:t>Mumbai vs. Bangalore:</a:t>
            </a:r>
            <a:endParaRPr lang="en-IN" sz="1400" dirty="0"/>
          </a:p>
          <a:p>
            <a:pPr marL="742950" lvl="1" indent="-285750">
              <a:buFont typeface="Arial" panose="020B0604020202020204" pitchFamily="34" charset="0"/>
              <a:buChar char="•"/>
            </a:pPr>
            <a:r>
              <a:rPr lang="en-IN" sz="1400" dirty="0"/>
              <a:t>Mumbai outperforms Bangalore by </a:t>
            </a:r>
            <a:r>
              <a:rPr lang="en-IN" sz="1400" b="1" dirty="0"/>
              <a:t>35.74%</a:t>
            </a:r>
            <a:r>
              <a:rPr lang="en-IN" sz="1400" dirty="0"/>
              <a:t> in bookings.</a:t>
            </a:r>
          </a:p>
          <a:p>
            <a:pPr>
              <a:buFont typeface="Arial" panose="020B0604020202020204" pitchFamily="34" charset="0"/>
              <a:buChar char="•"/>
            </a:pPr>
            <a:r>
              <a:rPr lang="en-IN" sz="1400" b="1" dirty="0"/>
              <a:t>Mumbai vs. Delhi:</a:t>
            </a:r>
            <a:endParaRPr lang="en-IN" sz="1400" dirty="0"/>
          </a:p>
          <a:p>
            <a:pPr marL="742950" lvl="1" indent="-285750">
              <a:buFont typeface="Arial" panose="020B0604020202020204" pitchFamily="34" charset="0"/>
              <a:buChar char="•"/>
            </a:pPr>
            <a:r>
              <a:rPr lang="en-IN" sz="1400" dirty="0"/>
              <a:t>Mumbai generates </a:t>
            </a:r>
            <a:r>
              <a:rPr lang="en-IN" sz="1400" b="1" dirty="0"/>
              <a:t>79.32%</a:t>
            </a:r>
            <a:r>
              <a:rPr lang="en-IN" sz="1400" dirty="0"/>
              <a:t> more bookings than Delhi.</a:t>
            </a:r>
          </a:p>
          <a:p>
            <a:pPr>
              <a:buFont typeface="Arial" panose="020B0604020202020204" pitchFamily="34" charset="0"/>
              <a:buChar char="•"/>
            </a:pPr>
            <a:r>
              <a:rPr lang="en-IN" sz="1400" b="1" dirty="0"/>
              <a:t>Hyderabad vs. Bangalore:</a:t>
            </a:r>
            <a:endParaRPr lang="en-IN" sz="1400" dirty="0"/>
          </a:p>
          <a:p>
            <a:pPr marL="742950" lvl="1" indent="-285750">
              <a:buFont typeface="Arial" panose="020B0604020202020204" pitchFamily="34" charset="0"/>
              <a:buChar char="•"/>
            </a:pPr>
            <a:r>
              <a:rPr lang="en-IN" sz="1400" dirty="0"/>
              <a:t>Hyderabad has </a:t>
            </a:r>
            <a:r>
              <a:rPr lang="en-IN" sz="1400" b="1" dirty="0"/>
              <a:t>8.97%</a:t>
            </a:r>
            <a:r>
              <a:rPr lang="en-IN" sz="1400" dirty="0"/>
              <a:t> more bookings than Bangalore.</a:t>
            </a:r>
          </a:p>
          <a:p>
            <a:pPr>
              <a:buFont typeface="Arial" panose="020B0604020202020204" pitchFamily="34" charset="0"/>
              <a:buChar char="•"/>
            </a:pPr>
            <a:r>
              <a:rPr lang="en-IN" sz="1400" b="1" dirty="0"/>
              <a:t>Hyderabad vs. Delhi:</a:t>
            </a:r>
            <a:endParaRPr lang="en-IN" sz="1400" dirty="0"/>
          </a:p>
          <a:p>
            <a:pPr marL="742950" lvl="1" indent="-285750">
              <a:buFont typeface="Arial" panose="020B0604020202020204" pitchFamily="34" charset="0"/>
              <a:buChar char="•"/>
            </a:pPr>
            <a:r>
              <a:rPr lang="en-IN" sz="1400" dirty="0"/>
              <a:t>Hyderabad generates </a:t>
            </a:r>
            <a:r>
              <a:rPr lang="en-IN" sz="1400" b="1" dirty="0"/>
              <a:t>43.96%</a:t>
            </a:r>
            <a:r>
              <a:rPr lang="en-IN" sz="1400" dirty="0"/>
              <a:t> more bookings than Delhi.</a:t>
            </a:r>
          </a:p>
          <a:p>
            <a:pPr>
              <a:buFont typeface="Arial" panose="020B0604020202020204" pitchFamily="34" charset="0"/>
              <a:buChar char="•"/>
            </a:pPr>
            <a:r>
              <a:rPr lang="en-IN" sz="1400" b="1" dirty="0"/>
              <a:t>Bangalore vs. Delhi:</a:t>
            </a:r>
            <a:endParaRPr lang="en-IN" sz="1400" dirty="0"/>
          </a:p>
          <a:p>
            <a:pPr marL="742950" lvl="1" indent="-285750">
              <a:buFont typeface="Arial" panose="020B0604020202020204" pitchFamily="34" charset="0"/>
              <a:buChar char="•"/>
            </a:pPr>
            <a:r>
              <a:rPr lang="en-IN" sz="1400" dirty="0"/>
              <a:t>Bangalore leads Delhi by </a:t>
            </a:r>
            <a:r>
              <a:rPr lang="en-IN" sz="1400" b="1" dirty="0"/>
              <a:t>32.11%</a:t>
            </a:r>
            <a:r>
              <a:rPr lang="en-IN" sz="1400" dirty="0"/>
              <a:t> in bookings.</a:t>
            </a:r>
          </a:p>
          <a:p>
            <a:pPr marL="742950" lvl="1" indent="-285750">
              <a:buFont typeface="Arial" panose="020B0604020202020204" pitchFamily="34" charset="0"/>
              <a:buChar char="•"/>
            </a:pPr>
            <a:endParaRPr lang="en-IN" sz="1400" dirty="0"/>
          </a:p>
          <a:p>
            <a:pPr marL="742950" lvl="1" indent="-285750">
              <a:buFont typeface="Arial" panose="020B0604020202020204" pitchFamily="34" charset="0"/>
              <a:buChar char="•"/>
            </a:pPr>
            <a:endParaRPr lang="en-IN" sz="1400" dirty="0"/>
          </a:p>
          <a:p>
            <a:r>
              <a:rPr lang="en-US" sz="1400" b="1" dirty="0"/>
              <a:t>Future Focus:</a:t>
            </a:r>
          </a:p>
          <a:p>
            <a:endParaRPr lang="en-US" sz="1400" b="1" dirty="0"/>
          </a:p>
          <a:p>
            <a:pPr>
              <a:buFont typeface="Arial" panose="020B0604020202020204" pitchFamily="34" charset="0"/>
              <a:buChar char="•"/>
            </a:pPr>
            <a:r>
              <a:rPr lang="en-US" sz="1400" b="1" dirty="0"/>
              <a:t>Replicating Mumbai’s success:</a:t>
            </a:r>
            <a:r>
              <a:rPr lang="en-US" sz="1400" dirty="0"/>
              <a:t> Efforts should be focused on improving performance in </a:t>
            </a:r>
            <a:r>
              <a:rPr lang="en-US" sz="1400" b="1" dirty="0"/>
              <a:t>Bangalore</a:t>
            </a:r>
            <a:r>
              <a:rPr lang="en-US" sz="1400" dirty="0"/>
              <a:t> and </a:t>
            </a:r>
            <a:r>
              <a:rPr lang="en-US" sz="1400" b="1" dirty="0"/>
              <a:t>Delhi</a:t>
            </a:r>
            <a:r>
              <a:rPr lang="en-US" sz="1400" dirty="0"/>
              <a:t>.</a:t>
            </a:r>
          </a:p>
          <a:p>
            <a:pPr>
              <a:buFont typeface="Arial" panose="020B0604020202020204" pitchFamily="34" charset="0"/>
              <a:buChar char="•"/>
            </a:pPr>
            <a:r>
              <a:rPr lang="en-US" sz="1400" b="1" dirty="0"/>
              <a:t>Customer experience and targeted marketing</a:t>
            </a:r>
            <a:r>
              <a:rPr lang="en-US" sz="1400" dirty="0"/>
              <a:t>: These strategies should be prioritized in </a:t>
            </a:r>
            <a:r>
              <a:rPr lang="en-US" sz="1400" b="1" dirty="0"/>
              <a:t>Bangalore</a:t>
            </a:r>
            <a:r>
              <a:rPr lang="en-US" sz="1400" dirty="0"/>
              <a:t> and </a:t>
            </a:r>
            <a:r>
              <a:rPr lang="en-US" sz="1400" b="1" dirty="0"/>
              <a:t>Delhi</a:t>
            </a:r>
            <a:r>
              <a:rPr lang="en-US" sz="1400" dirty="0"/>
              <a:t> to increase bookings.</a:t>
            </a:r>
          </a:p>
          <a:p>
            <a:pPr>
              <a:buFont typeface="Arial" panose="020B0604020202020204" pitchFamily="34" charset="0"/>
              <a:buChar char="•"/>
            </a:pPr>
            <a:r>
              <a:rPr lang="en-US" sz="1400" b="1" dirty="0"/>
              <a:t>Improving Delhi’s performance</a:t>
            </a:r>
            <a:r>
              <a:rPr lang="en-US" sz="1400" dirty="0"/>
              <a:t>: It is crucial to focus on strategies to boost bookings and address the significant performance gap in Delhi.</a:t>
            </a:r>
          </a:p>
          <a:p>
            <a:pPr lvl="1"/>
            <a:endParaRPr lang="en-IN" sz="1400" dirty="0"/>
          </a:p>
          <a:p>
            <a:endParaRPr lang="en-IN" dirty="0"/>
          </a:p>
        </p:txBody>
      </p:sp>
    </p:spTree>
    <p:extLst>
      <p:ext uri="{BB962C8B-B14F-4D97-AF65-F5344CB8AC3E}">
        <p14:creationId xmlns:p14="http://schemas.microsoft.com/office/powerpoint/2010/main" val="5550770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6000"/>
                <a:shade val="99000"/>
                <a:satMod val="140000"/>
              </a:schemeClr>
            </a:gs>
            <a:gs pos="65000">
              <a:schemeClr val="bg1">
                <a:tint val="100000"/>
                <a:shade val="80000"/>
                <a:satMod val="130000"/>
              </a:schemeClr>
            </a:gs>
            <a:gs pos="100000">
              <a:schemeClr val="bg1">
                <a:tint val="100000"/>
                <a:shade val="48000"/>
                <a:satMod val="120000"/>
              </a:schemeClr>
            </a:gs>
          </a:gsLst>
          <a:lin ang="16200000" scaled="0"/>
        </a:gradFill>
        <a:effectLst/>
      </p:bgPr>
    </p:bg>
    <p:spTree>
      <p:nvGrpSpPr>
        <p:cNvPr id="1" name="">
          <a:extLst>
            <a:ext uri="{FF2B5EF4-FFF2-40B4-BE49-F238E27FC236}">
              <a16:creationId xmlns:a16="http://schemas.microsoft.com/office/drawing/2014/main" id="{58C6256E-AFB0-9C82-C14B-0C8736CD6C88}"/>
            </a:ext>
          </a:extLst>
        </p:cNvPr>
        <p:cNvGrpSpPr/>
        <p:nvPr/>
      </p:nvGrpSpPr>
      <p:grpSpPr>
        <a:xfrm>
          <a:off x="0" y="0"/>
          <a:ext cx="0" cy="0"/>
          <a:chOff x="0" y="0"/>
          <a:chExt cx="0" cy="0"/>
        </a:xfrm>
      </p:grpSpPr>
      <p:pic>
        <p:nvPicPr>
          <p:cNvPr id="4" name="Picture 3" descr="Black pen against a sheet with shaded numbers">
            <a:extLst>
              <a:ext uri="{FF2B5EF4-FFF2-40B4-BE49-F238E27FC236}">
                <a16:creationId xmlns:a16="http://schemas.microsoft.com/office/drawing/2014/main" id="{D8F4CB81-8AF4-C87A-C33F-74E7C208EA82}"/>
              </a:ext>
            </a:extLst>
          </p:cNvPr>
          <p:cNvPicPr>
            <a:picLocks noChangeAspect="1"/>
          </p:cNvPicPr>
          <p:nvPr/>
        </p:nvPicPr>
        <p:blipFill>
          <a:blip r:embed="rId2">
            <a:alphaModFix amt="35000"/>
          </a:blip>
          <a:srcRect t="5681" b="10050"/>
          <a:stretch/>
        </p:blipFill>
        <p:spPr>
          <a:xfrm>
            <a:off x="20" y="10"/>
            <a:ext cx="12191980" cy="6857990"/>
          </a:xfrm>
          <a:prstGeom prst="rect">
            <a:avLst/>
          </a:prstGeom>
        </p:spPr>
      </p:pic>
      <p:sp>
        <p:nvSpPr>
          <p:cNvPr id="2" name="Title 1">
            <a:extLst>
              <a:ext uri="{FF2B5EF4-FFF2-40B4-BE49-F238E27FC236}">
                <a16:creationId xmlns:a16="http://schemas.microsoft.com/office/drawing/2014/main" id="{1BE1865C-68A2-E5E7-2E15-44B4D9B9BDF3}"/>
              </a:ext>
            </a:extLst>
          </p:cNvPr>
          <p:cNvSpPr>
            <a:spLocks noGrp="1"/>
          </p:cNvSpPr>
          <p:nvPr>
            <p:ph type="title"/>
          </p:nvPr>
        </p:nvSpPr>
        <p:spPr>
          <a:xfrm>
            <a:off x="1097280" y="758952"/>
            <a:ext cx="10058400" cy="3566160"/>
          </a:xfrm>
        </p:spPr>
        <p:txBody>
          <a:bodyPr vert="horz" lIns="91440" tIns="45720" rIns="91440" bIns="45720" rtlCol="0" anchor="b">
            <a:normAutofit/>
          </a:bodyPr>
          <a:lstStyle/>
          <a:p>
            <a:r>
              <a:rPr lang="en-US" sz="8000" b="1">
                <a:solidFill>
                  <a:srgbClr val="FFFFFF"/>
                </a:solidFill>
              </a:rPr>
              <a:t>Rating Analysis Report</a:t>
            </a:r>
          </a:p>
        </p:txBody>
      </p:sp>
    </p:spTree>
    <p:extLst>
      <p:ext uri="{BB962C8B-B14F-4D97-AF65-F5344CB8AC3E}">
        <p14:creationId xmlns:p14="http://schemas.microsoft.com/office/powerpoint/2010/main" val="3921784965"/>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881A7D8-228C-9960-0874-2E08C6EC7A83}"/>
              </a:ext>
            </a:extLst>
          </p:cNvPr>
          <p:cNvPicPr>
            <a:picLocks noChangeAspect="1"/>
          </p:cNvPicPr>
          <p:nvPr/>
        </p:nvPicPr>
        <p:blipFill>
          <a:blip r:embed="rId2"/>
          <a:stretch>
            <a:fillRect/>
          </a:stretch>
        </p:blipFill>
        <p:spPr>
          <a:xfrm>
            <a:off x="875594" y="138029"/>
            <a:ext cx="10116962" cy="1190791"/>
          </a:xfrm>
          <a:prstGeom prst="rect">
            <a:avLst/>
          </a:prstGeom>
        </p:spPr>
      </p:pic>
      <p:sp>
        <p:nvSpPr>
          <p:cNvPr id="4" name="TextBox 3">
            <a:extLst>
              <a:ext uri="{FF2B5EF4-FFF2-40B4-BE49-F238E27FC236}">
                <a16:creationId xmlns:a16="http://schemas.microsoft.com/office/drawing/2014/main" id="{A7A43B47-3E23-888B-DC18-5E5F8F11A047}"/>
              </a:ext>
            </a:extLst>
          </p:cNvPr>
          <p:cNvSpPr txBox="1"/>
          <p:nvPr/>
        </p:nvSpPr>
        <p:spPr>
          <a:xfrm>
            <a:off x="457200" y="1328820"/>
            <a:ext cx="11287125" cy="6124754"/>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sz="1600" b="1" dirty="0">
                <a:effectLst/>
              </a:rPr>
              <a:t>Overview:</a:t>
            </a:r>
            <a:endParaRPr lang="en-US" sz="1600" dirty="0">
              <a:effectLst/>
            </a:endParaRPr>
          </a:p>
          <a:p>
            <a:r>
              <a:rPr lang="en-US" sz="1200" dirty="0">
                <a:effectLst/>
              </a:rPr>
              <a:t>The hotel has successfully achieved </a:t>
            </a:r>
            <a:r>
              <a:rPr lang="en-US" sz="1200" b="1" dirty="0">
                <a:effectLst/>
              </a:rPr>
              <a:t>94.41K bookings</a:t>
            </a:r>
            <a:r>
              <a:rPr lang="en-US" sz="1200" dirty="0">
                <a:effectLst/>
              </a:rPr>
              <a:t>, with an average guest rating of </a:t>
            </a:r>
            <a:r>
              <a:rPr lang="en-US" sz="1200" b="1" dirty="0">
                <a:effectLst/>
              </a:rPr>
              <a:t>3.62</a:t>
            </a:r>
            <a:r>
              <a:rPr lang="en-US" sz="1200" dirty="0">
                <a:effectLst/>
              </a:rPr>
              <a:t>, based on </a:t>
            </a:r>
            <a:r>
              <a:rPr lang="en-US" sz="1200" b="1" dirty="0">
                <a:effectLst/>
              </a:rPr>
              <a:t>56.5K ratings</a:t>
            </a:r>
            <a:r>
              <a:rPr lang="en-US" sz="1200" dirty="0">
                <a:effectLst/>
              </a:rPr>
              <a:t> that account for </a:t>
            </a:r>
            <a:r>
              <a:rPr lang="en-US" sz="1200" b="1" dirty="0">
                <a:effectLst/>
              </a:rPr>
              <a:t>60%</a:t>
            </a:r>
            <a:r>
              <a:rPr lang="en-US" sz="1200" dirty="0">
                <a:effectLst/>
              </a:rPr>
              <a:t> of successful bookings. Striving to achieve </a:t>
            </a:r>
            <a:r>
              <a:rPr lang="en-US" sz="1200" b="1" dirty="0">
                <a:effectLst/>
              </a:rPr>
              <a:t>100% guest ratings</a:t>
            </a:r>
            <a:r>
              <a:rPr lang="en-US" sz="1200" dirty="0">
                <a:effectLst/>
              </a:rPr>
              <a:t> would significantly enhance the hotel’s reputation, increase revenue, boost room bookings, and improve its market competitiveness—ultimately attracting more customers and setting us apart from competitors.</a:t>
            </a:r>
          </a:p>
          <a:p>
            <a:endParaRPr lang="en-US" sz="1400" dirty="0">
              <a:effectLst/>
            </a:endParaRPr>
          </a:p>
          <a:p>
            <a:r>
              <a:rPr lang="en-US" sz="1600" b="1" dirty="0">
                <a:effectLst/>
              </a:rPr>
              <a:t>Improvement</a:t>
            </a:r>
          </a:p>
          <a:p>
            <a:endParaRPr lang="en-US" sz="1600" b="1" dirty="0">
              <a:effectLst/>
            </a:endParaRPr>
          </a:p>
          <a:p>
            <a:r>
              <a:rPr lang="en-US" sz="1200" b="1" dirty="0">
                <a:effectLst/>
              </a:rPr>
              <a:t>City Rating Comparison:</a:t>
            </a:r>
            <a:endParaRPr lang="en-US" sz="1200" dirty="0">
              <a:effectLst/>
            </a:endParaRPr>
          </a:p>
          <a:p>
            <a:r>
              <a:rPr lang="en-US" sz="1200" dirty="0">
                <a:effectLst/>
              </a:rPr>
              <a:t>In terms of city performance:</a:t>
            </a:r>
          </a:p>
          <a:p>
            <a:pPr>
              <a:buFont typeface="Arial" panose="020B0604020202020204" pitchFamily="34" charset="0"/>
              <a:buChar char="•"/>
            </a:pPr>
            <a:r>
              <a:rPr lang="en-US" sz="1200" b="1" dirty="0">
                <a:effectLst/>
              </a:rPr>
              <a:t>Bangalore</a:t>
            </a:r>
            <a:r>
              <a:rPr lang="en-US" sz="1200" dirty="0">
                <a:effectLst/>
              </a:rPr>
              <a:t> holds an average rating of </a:t>
            </a:r>
            <a:r>
              <a:rPr lang="en-US" sz="1200" b="1" dirty="0">
                <a:effectLst/>
              </a:rPr>
              <a:t>3.41</a:t>
            </a:r>
            <a:r>
              <a:rPr lang="en-US" sz="1200" dirty="0">
                <a:effectLst/>
              </a:rPr>
              <a:t>, which is </a:t>
            </a:r>
            <a:r>
              <a:rPr lang="en-US" sz="1200" b="1" dirty="0">
                <a:effectLst/>
              </a:rPr>
              <a:t>5.8% lower</a:t>
            </a:r>
            <a:r>
              <a:rPr lang="en-US" sz="1200" dirty="0">
                <a:effectLst/>
              </a:rPr>
              <a:t> than the </a:t>
            </a:r>
            <a:r>
              <a:rPr lang="en-US" sz="1200" b="1" dirty="0">
                <a:effectLst/>
              </a:rPr>
              <a:t>average rating</a:t>
            </a:r>
            <a:r>
              <a:rPr lang="en-US" sz="1200" dirty="0">
                <a:effectLst/>
              </a:rPr>
              <a:t> of </a:t>
            </a:r>
            <a:r>
              <a:rPr lang="en-US" sz="1200" b="1" dirty="0">
                <a:effectLst/>
              </a:rPr>
              <a:t>3.62</a:t>
            </a:r>
            <a:r>
              <a:rPr lang="en-US" sz="1200" dirty="0">
                <a:effectLst/>
              </a:rPr>
              <a:t>.</a:t>
            </a:r>
          </a:p>
          <a:p>
            <a:pPr>
              <a:buFont typeface="Arial" panose="020B0604020202020204" pitchFamily="34" charset="0"/>
              <a:buChar char="•"/>
            </a:pPr>
            <a:r>
              <a:rPr lang="en-US" sz="1200" b="1" dirty="0">
                <a:effectLst/>
              </a:rPr>
              <a:t>Mumbai</a:t>
            </a:r>
            <a:r>
              <a:rPr lang="en-US" sz="1200" dirty="0">
                <a:effectLst/>
              </a:rPr>
              <a:t> holds a higher rating of </a:t>
            </a:r>
            <a:r>
              <a:rPr lang="en-US" sz="1200" b="1" dirty="0">
                <a:effectLst/>
              </a:rPr>
              <a:t>3.65</a:t>
            </a:r>
            <a:r>
              <a:rPr lang="en-US" sz="1200" dirty="0">
                <a:effectLst/>
              </a:rPr>
              <a:t>, outperforming </a:t>
            </a:r>
            <a:r>
              <a:rPr lang="en-US" sz="1200" b="1" dirty="0">
                <a:effectLst/>
              </a:rPr>
              <a:t>Bangalore</a:t>
            </a:r>
            <a:r>
              <a:rPr lang="en-US" sz="1200" dirty="0">
                <a:effectLst/>
              </a:rPr>
              <a:t>.</a:t>
            </a:r>
          </a:p>
          <a:p>
            <a:r>
              <a:rPr lang="en-US" sz="1200" dirty="0">
                <a:effectLst/>
              </a:rPr>
              <a:t>This suggests that there is room for improvement in </a:t>
            </a:r>
            <a:r>
              <a:rPr lang="en-US" sz="1200" b="1" dirty="0">
                <a:effectLst/>
              </a:rPr>
              <a:t>Bangalore</a:t>
            </a:r>
            <a:r>
              <a:rPr lang="en-US" sz="1200" dirty="0">
                <a:effectLst/>
              </a:rPr>
              <a:t>, and by enhancing the service quality, we can work toward closing the gap and boosting the ratings to align more closely with the </a:t>
            </a:r>
            <a:r>
              <a:rPr lang="en-US" sz="1200" b="1" dirty="0">
                <a:effectLst/>
              </a:rPr>
              <a:t>average rating</a:t>
            </a:r>
            <a:r>
              <a:rPr lang="en-US" sz="1200" dirty="0">
                <a:effectLst/>
              </a:rPr>
              <a:t>.</a:t>
            </a:r>
          </a:p>
          <a:p>
            <a:endParaRPr lang="en-US" sz="1100" dirty="0"/>
          </a:p>
          <a:p>
            <a:pPr algn="l"/>
            <a:r>
              <a:rPr lang="en-US" sz="1100" b="1" i="0" dirty="0">
                <a:solidFill>
                  <a:srgbClr val="252423"/>
                </a:solidFill>
                <a:effectLst/>
                <a:latin typeface="Trebuchet MS" panose="020B0603020202020204" pitchFamily="34" charset="0"/>
              </a:rPr>
              <a:t>Property Ratings</a:t>
            </a:r>
          </a:p>
          <a:p>
            <a:pPr algn="l"/>
            <a:endParaRPr lang="en-US" sz="1100" b="0" i="0" dirty="0">
              <a:solidFill>
                <a:srgbClr val="252423"/>
              </a:solidFill>
              <a:effectLst/>
              <a:latin typeface="Trebuchet MS" panose="020B0603020202020204" pitchFamily="34" charset="0"/>
            </a:endParaRPr>
          </a:p>
          <a:p>
            <a:pPr algn="l"/>
            <a:r>
              <a:rPr lang="en-US" sz="1100" b="0" i="0" dirty="0">
                <a:solidFill>
                  <a:srgbClr val="252423"/>
                </a:solidFill>
                <a:effectLst/>
                <a:latin typeface="Trebuchet MS" panose="020B0603020202020204" pitchFamily="34" charset="0"/>
              </a:rPr>
              <a:t>When comparing the ratings of our properties:</a:t>
            </a:r>
          </a:p>
          <a:p>
            <a:pPr algn="l">
              <a:buFont typeface="Arial" panose="020B0604020202020204" pitchFamily="34" charset="0"/>
              <a:buChar char="•"/>
            </a:pPr>
            <a:r>
              <a:rPr lang="en-US" sz="1100" b="0" i="0" dirty="0">
                <a:solidFill>
                  <a:srgbClr val="252423"/>
                </a:solidFill>
                <a:effectLst/>
                <a:latin typeface="Trebuchet MS" panose="020B0603020202020204" pitchFamily="34" charset="0"/>
              </a:rPr>
              <a:t>The </a:t>
            </a:r>
            <a:r>
              <a:rPr lang="en-US" sz="1100" b="1" i="0" dirty="0">
                <a:solidFill>
                  <a:srgbClr val="252423"/>
                </a:solidFill>
                <a:effectLst/>
                <a:latin typeface="Trebuchet MS" panose="020B0603020202020204" pitchFamily="34" charset="0"/>
              </a:rPr>
              <a:t>average rating</a:t>
            </a:r>
            <a:r>
              <a:rPr lang="en-US" sz="1100" b="0" i="0" dirty="0">
                <a:solidFill>
                  <a:srgbClr val="252423"/>
                </a:solidFill>
                <a:effectLst/>
                <a:latin typeface="Trebuchet MS" panose="020B0603020202020204" pitchFamily="34" charset="0"/>
              </a:rPr>
              <a:t> is </a:t>
            </a:r>
            <a:r>
              <a:rPr lang="en-US" sz="1100" b="1" i="0" dirty="0">
                <a:solidFill>
                  <a:srgbClr val="252423"/>
                </a:solidFill>
                <a:effectLst/>
                <a:latin typeface="Trebuchet MS" panose="020B0603020202020204" pitchFamily="34" charset="0"/>
              </a:rPr>
              <a:t>3.62</a:t>
            </a:r>
            <a:r>
              <a:rPr lang="en-US" sz="1100" b="0" i="0" dirty="0">
                <a:solidFill>
                  <a:srgbClr val="252423"/>
                </a:solidFill>
                <a:effectLst/>
                <a:latin typeface="Trebuchet MS" panose="020B0603020202020204" pitchFamily="34" charset="0"/>
              </a:rPr>
              <a:t>, which is </a:t>
            </a:r>
            <a:r>
              <a:rPr lang="en-US" sz="1100" b="1" i="0" dirty="0">
                <a:solidFill>
                  <a:srgbClr val="252423"/>
                </a:solidFill>
                <a:effectLst/>
                <a:latin typeface="Trebuchet MS" panose="020B0603020202020204" pitchFamily="34" charset="0"/>
              </a:rPr>
              <a:t>58.1% higher</a:t>
            </a:r>
            <a:r>
              <a:rPr lang="en-US" sz="1100" b="0" i="0" dirty="0">
                <a:solidFill>
                  <a:srgbClr val="252423"/>
                </a:solidFill>
                <a:effectLst/>
                <a:latin typeface="Trebuchet MS" panose="020B0603020202020204" pitchFamily="34" charset="0"/>
              </a:rPr>
              <a:t> than </a:t>
            </a:r>
            <a:r>
              <a:rPr lang="en-US" sz="1100" b="1" i="0" dirty="0">
                <a:solidFill>
                  <a:srgbClr val="252423"/>
                </a:solidFill>
                <a:effectLst/>
                <a:latin typeface="Trebuchet MS" panose="020B0603020202020204" pitchFamily="34" charset="0"/>
              </a:rPr>
              <a:t>Atliq Season's</a:t>
            </a:r>
            <a:r>
              <a:rPr lang="en-US" sz="1100" b="0" i="0" dirty="0">
                <a:solidFill>
                  <a:srgbClr val="252423"/>
                </a:solidFill>
                <a:effectLst/>
                <a:latin typeface="Trebuchet MS" panose="020B0603020202020204" pitchFamily="34" charset="0"/>
              </a:rPr>
              <a:t> rating of </a:t>
            </a:r>
            <a:r>
              <a:rPr lang="en-US" sz="1100" b="1" i="0" dirty="0">
                <a:solidFill>
                  <a:srgbClr val="252423"/>
                </a:solidFill>
                <a:effectLst/>
                <a:latin typeface="Trebuchet MS" panose="020B0603020202020204" pitchFamily="34" charset="0"/>
              </a:rPr>
              <a:t>2.29</a:t>
            </a:r>
            <a:r>
              <a:rPr lang="en-US" sz="1100" b="0" i="0" dirty="0">
                <a:solidFill>
                  <a:srgbClr val="252423"/>
                </a:solidFill>
                <a:effectLst/>
                <a:latin typeface="Trebuchet MS" panose="020B0603020202020204" pitchFamily="34" charset="0"/>
              </a:rPr>
              <a:t>.</a:t>
            </a:r>
          </a:p>
          <a:p>
            <a:pPr algn="l">
              <a:buFont typeface="Arial" panose="020B0604020202020204" pitchFamily="34" charset="0"/>
              <a:buChar char="•"/>
            </a:pPr>
            <a:r>
              <a:rPr lang="en-US" sz="1100" b="1" i="0" dirty="0">
                <a:solidFill>
                  <a:srgbClr val="252423"/>
                </a:solidFill>
                <a:effectLst/>
                <a:latin typeface="Trebuchet MS" panose="020B0603020202020204" pitchFamily="34" charset="0"/>
              </a:rPr>
              <a:t>Atliq Grand</a:t>
            </a:r>
            <a:r>
              <a:rPr lang="en-US" sz="1100" b="0" i="0" dirty="0">
                <a:solidFill>
                  <a:srgbClr val="252423"/>
                </a:solidFill>
                <a:effectLst/>
                <a:latin typeface="Trebuchet MS" panose="020B0603020202020204" pitchFamily="34" charset="0"/>
              </a:rPr>
              <a:t> holds a rating of </a:t>
            </a:r>
            <a:r>
              <a:rPr lang="en-US" sz="1100" b="1" i="0" dirty="0">
                <a:solidFill>
                  <a:srgbClr val="252423"/>
                </a:solidFill>
                <a:effectLst/>
                <a:latin typeface="Trebuchet MS" panose="020B0603020202020204" pitchFamily="34" charset="0"/>
              </a:rPr>
              <a:t>3.10</a:t>
            </a:r>
            <a:r>
              <a:rPr lang="en-US" sz="1100" b="0" i="0" dirty="0">
                <a:solidFill>
                  <a:srgbClr val="252423"/>
                </a:solidFill>
                <a:effectLst/>
                <a:latin typeface="Trebuchet MS" panose="020B0603020202020204" pitchFamily="34" charset="0"/>
              </a:rPr>
              <a:t>, which is </a:t>
            </a:r>
            <a:r>
              <a:rPr lang="en-US" sz="1100" b="1" i="0" dirty="0">
                <a:solidFill>
                  <a:srgbClr val="252423"/>
                </a:solidFill>
                <a:effectLst/>
                <a:latin typeface="Trebuchet MS" panose="020B0603020202020204" pitchFamily="34" charset="0"/>
              </a:rPr>
              <a:t>16.9% higher</a:t>
            </a:r>
            <a:r>
              <a:rPr lang="en-US" sz="1100" b="0" i="0" dirty="0">
                <a:solidFill>
                  <a:srgbClr val="252423"/>
                </a:solidFill>
                <a:effectLst/>
                <a:latin typeface="Trebuchet MS" panose="020B0603020202020204" pitchFamily="34" charset="0"/>
              </a:rPr>
              <a:t> than </a:t>
            </a:r>
            <a:r>
              <a:rPr lang="en-US" sz="1100" b="1" i="0" dirty="0">
                <a:solidFill>
                  <a:srgbClr val="252423"/>
                </a:solidFill>
                <a:effectLst/>
                <a:latin typeface="Trebuchet MS" panose="020B0603020202020204" pitchFamily="34" charset="0"/>
              </a:rPr>
              <a:t>Atliq Season's</a:t>
            </a:r>
            <a:r>
              <a:rPr lang="en-US" sz="1100" b="0" i="0" dirty="0">
                <a:solidFill>
                  <a:srgbClr val="252423"/>
                </a:solidFill>
                <a:effectLst/>
                <a:latin typeface="Trebuchet MS" panose="020B0603020202020204" pitchFamily="34" charset="0"/>
              </a:rPr>
              <a:t> rating of </a:t>
            </a:r>
            <a:r>
              <a:rPr lang="en-US" sz="1100" b="1" i="0" dirty="0">
                <a:solidFill>
                  <a:srgbClr val="252423"/>
                </a:solidFill>
                <a:effectLst/>
                <a:latin typeface="Trebuchet MS" panose="020B0603020202020204" pitchFamily="34" charset="0"/>
              </a:rPr>
              <a:t>2.29</a:t>
            </a:r>
            <a:r>
              <a:rPr lang="en-US" sz="1100" b="0" i="0" dirty="0">
                <a:solidFill>
                  <a:srgbClr val="252423"/>
                </a:solidFill>
                <a:effectLst/>
                <a:latin typeface="Trebuchet MS" panose="020B0603020202020204" pitchFamily="34" charset="0"/>
              </a:rPr>
              <a:t> and </a:t>
            </a:r>
            <a:r>
              <a:rPr lang="en-US" sz="1100" b="1" i="0" dirty="0">
                <a:solidFill>
                  <a:srgbClr val="252423"/>
                </a:solidFill>
                <a:effectLst/>
                <a:latin typeface="Trebuchet MS" panose="020B0603020202020204" pitchFamily="34" charset="0"/>
              </a:rPr>
              <a:t>14.4% lower</a:t>
            </a:r>
            <a:r>
              <a:rPr lang="en-US" sz="1100" b="0" i="0" dirty="0">
                <a:solidFill>
                  <a:srgbClr val="252423"/>
                </a:solidFill>
                <a:effectLst/>
                <a:latin typeface="Trebuchet MS" panose="020B0603020202020204" pitchFamily="34" charset="0"/>
              </a:rPr>
              <a:t> than the </a:t>
            </a:r>
            <a:r>
              <a:rPr lang="en-US" sz="1100" b="1" i="0" dirty="0">
                <a:solidFill>
                  <a:srgbClr val="252423"/>
                </a:solidFill>
                <a:effectLst/>
                <a:latin typeface="Trebuchet MS" panose="020B0603020202020204" pitchFamily="34" charset="0"/>
              </a:rPr>
              <a:t>average rating</a:t>
            </a:r>
            <a:r>
              <a:rPr lang="en-US" sz="1100" b="0" i="0" dirty="0">
                <a:solidFill>
                  <a:srgbClr val="252423"/>
                </a:solidFill>
                <a:effectLst/>
                <a:latin typeface="Trebuchet MS" panose="020B0603020202020204" pitchFamily="34" charset="0"/>
              </a:rPr>
              <a:t> of </a:t>
            </a:r>
            <a:r>
              <a:rPr lang="en-US" sz="1100" b="1" i="0" dirty="0">
                <a:solidFill>
                  <a:srgbClr val="252423"/>
                </a:solidFill>
                <a:effectLst/>
                <a:latin typeface="Trebuchet MS" panose="020B0603020202020204" pitchFamily="34" charset="0"/>
              </a:rPr>
              <a:t>3.62</a:t>
            </a:r>
            <a:r>
              <a:rPr lang="en-US" sz="1100" b="0" i="0" dirty="0">
                <a:solidFill>
                  <a:srgbClr val="252423"/>
                </a:solidFill>
                <a:effectLst/>
                <a:latin typeface="Trebuchet MS" panose="020B0603020202020204" pitchFamily="34" charset="0"/>
              </a:rPr>
              <a:t>.</a:t>
            </a:r>
          </a:p>
          <a:p>
            <a:pPr algn="l"/>
            <a:br>
              <a:rPr lang="en-US" sz="1100" b="0" i="0" dirty="0">
                <a:solidFill>
                  <a:srgbClr val="252423"/>
                </a:solidFill>
                <a:effectLst/>
                <a:latin typeface="Trebuchet MS" panose="020B0603020202020204" pitchFamily="34" charset="0"/>
              </a:rPr>
            </a:br>
            <a:r>
              <a:rPr lang="en-US" sz="1100" b="0" i="0" dirty="0">
                <a:solidFill>
                  <a:srgbClr val="252423"/>
                </a:solidFill>
                <a:effectLst/>
                <a:latin typeface="Trebuchet MS" panose="020B0603020202020204" pitchFamily="34" charset="0"/>
              </a:rPr>
              <a:t>This comparison clearly shows that </a:t>
            </a:r>
            <a:r>
              <a:rPr lang="en-US" sz="1100" b="1" i="0" dirty="0">
                <a:solidFill>
                  <a:srgbClr val="252423"/>
                </a:solidFill>
                <a:effectLst/>
                <a:latin typeface="Trebuchet MS" panose="020B0603020202020204" pitchFamily="34" charset="0"/>
              </a:rPr>
              <a:t>Atliq Blu</a:t>
            </a:r>
            <a:r>
              <a:rPr lang="en-US" sz="1100" b="0" i="0" dirty="0">
                <a:solidFill>
                  <a:srgbClr val="252423"/>
                </a:solidFill>
                <a:effectLst/>
                <a:latin typeface="Trebuchet MS" panose="020B0603020202020204" pitchFamily="34" charset="0"/>
              </a:rPr>
              <a:t> is performing at a significantly higher level compared to both </a:t>
            </a:r>
            <a:r>
              <a:rPr lang="en-US" sz="1100" b="1" i="0" dirty="0">
                <a:solidFill>
                  <a:srgbClr val="252423"/>
                </a:solidFill>
                <a:effectLst/>
                <a:latin typeface="Trebuchet MS" panose="020B0603020202020204" pitchFamily="34" charset="0"/>
              </a:rPr>
              <a:t>Atliq Season</a:t>
            </a:r>
            <a:r>
              <a:rPr lang="en-US" sz="1100" b="0" i="0" dirty="0">
                <a:solidFill>
                  <a:srgbClr val="252423"/>
                </a:solidFill>
                <a:effectLst/>
                <a:latin typeface="Trebuchet MS" panose="020B0603020202020204" pitchFamily="34" charset="0"/>
              </a:rPr>
              <a:t> and </a:t>
            </a:r>
            <a:r>
              <a:rPr lang="en-US" sz="1100" b="1" i="0" dirty="0">
                <a:solidFill>
                  <a:srgbClr val="252423"/>
                </a:solidFill>
                <a:effectLst/>
                <a:latin typeface="Trebuchet MS" panose="020B0603020202020204" pitchFamily="34" charset="0"/>
              </a:rPr>
              <a:t>Atliq Grand</a:t>
            </a:r>
            <a:r>
              <a:rPr lang="en-US" sz="1100" b="0" i="0" dirty="0">
                <a:solidFill>
                  <a:srgbClr val="252423"/>
                </a:solidFill>
                <a:effectLst/>
                <a:latin typeface="Trebuchet MS" panose="020B0603020202020204" pitchFamily="34" charset="0"/>
              </a:rPr>
              <a:t>, indicating the need for focused efforts to improve service quality at </a:t>
            </a:r>
            <a:r>
              <a:rPr lang="en-US" sz="1100" b="1" i="0" dirty="0">
                <a:solidFill>
                  <a:srgbClr val="252423"/>
                </a:solidFill>
                <a:effectLst/>
                <a:latin typeface="Trebuchet MS" panose="020B0603020202020204" pitchFamily="34" charset="0"/>
              </a:rPr>
              <a:t>Atliq Season</a:t>
            </a:r>
            <a:r>
              <a:rPr lang="en-US" sz="1100" b="0" i="0" dirty="0">
                <a:solidFill>
                  <a:srgbClr val="252423"/>
                </a:solidFill>
                <a:effectLst/>
                <a:latin typeface="Trebuchet MS" panose="020B0603020202020204" pitchFamily="34" charset="0"/>
              </a:rPr>
              <a:t> to elevate its rating closer to the overall </a:t>
            </a:r>
            <a:r>
              <a:rPr lang="en-US" sz="1100" b="1" i="0" dirty="0">
                <a:solidFill>
                  <a:srgbClr val="252423"/>
                </a:solidFill>
                <a:effectLst/>
                <a:latin typeface="Trebuchet MS" panose="020B0603020202020204" pitchFamily="34" charset="0"/>
              </a:rPr>
              <a:t>average rating</a:t>
            </a:r>
            <a:r>
              <a:rPr lang="en-US" sz="1100" b="0" i="0" dirty="0">
                <a:solidFill>
                  <a:srgbClr val="252423"/>
                </a:solidFill>
                <a:effectLst/>
                <a:latin typeface="Trebuchet MS" panose="020B0603020202020204" pitchFamily="34" charset="0"/>
              </a:rPr>
              <a:t>.</a:t>
            </a:r>
          </a:p>
          <a:p>
            <a:pPr algn="l"/>
            <a:endParaRPr lang="en-US" sz="1100" dirty="0">
              <a:solidFill>
                <a:srgbClr val="252423"/>
              </a:solidFill>
              <a:latin typeface="Trebuchet MS" panose="020B0603020202020204" pitchFamily="34" charset="0"/>
            </a:endParaRPr>
          </a:p>
          <a:p>
            <a:pPr algn="l"/>
            <a:r>
              <a:rPr lang="en-US" sz="1100" b="1" i="0" dirty="0">
                <a:solidFill>
                  <a:srgbClr val="252423"/>
                </a:solidFill>
                <a:effectLst/>
                <a:latin typeface="Trebuchet MS" panose="020B0603020202020204" pitchFamily="34" charset="0"/>
              </a:rPr>
              <a:t>Conclusion:</a:t>
            </a:r>
          </a:p>
          <a:p>
            <a:r>
              <a:rPr lang="en-US" sz="1200" dirty="0"/>
              <a:t>A</a:t>
            </a:r>
            <a:r>
              <a:rPr lang="en-US" sz="1200" dirty="0">
                <a:effectLst/>
              </a:rPr>
              <a:t>chieve </a:t>
            </a:r>
            <a:r>
              <a:rPr lang="en-US" sz="1200" b="1" dirty="0">
                <a:effectLst/>
              </a:rPr>
              <a:t>100% guest ratings</a:t>
            </a:r>
            <a:r>
              <a:rPr lang="en-US" sz="1200" dirty="0">
                <a:effectLst/>
              </a:rPr>
              <a:t> would significantly enhance the hotel’s reputation, increase revenue, boost room bookings, and improve its market competitiveness—ultimately attracting more customers and setting us apart from competitors.</a:t>
            </a:r>
          </a:p>
          <a:p>
            <a:pPr algn="l"/>
            <a:endParaRPr lang="en-US" sz="1100" b="0" i="0" dirty="0">
              <a:solidFill>
                <a:srgbClr val="252423"/>
              </a:solidFill>
              <a:effectLst/>
              <a:latin typeface="Trebuchet MS" panose="020B0603020202020204" pitchFamily="34" charset="0"/>
            </a:endParaRPr>
          </a:p>
          <a:p>
            <a:endParaRPr lang="en-US" sz="1200" dirty="0">
              <a:effectLst/>
            </a:endParaRPr>
          </a:p>
          <a:p>
            <a:br>
              <a:rPr lang="en-US" dirty="0">
                <a:effectLst/>
              </a:rPr>
            </a:br>
            <a:br>
              <a:rPr lang="en-US" dirty="0">
                <a:effectLst/>
              </a:rPr>
            </a:br>
            <a:endParaRPr lang="en-IN" dirty="0"/>
          </a:p>
        </p:txBody>
      </p:sp>
    </p:spTree>
    <p:extLst>
      <p:ext uri="{BB962C8B-B14F-4D97-AF65-F5344CB8AC3E}">
        <p14:creationId xmlns:p14="http://schemas.microsoft.com/office/powerpoint/2010/main" val="1654382326"/>
      </p:ext>
    </p:extLst>
  </p:cSld>
  <p:clrMapOvr>
    <a:masterClrMapping/>
  </p:clrMapOvr>
</p:sld>
</file>

<file path=ppt/theme/theme1.xml><?xml version="1.0" encoding="utf-8"?>
<a:theme xmlns:a="http://schemas.openxmlformats.org/drawingml/2006/main" name="Atlas">
  <a:themeElements>
    <a:clrScheme name="Atlas">
      <a:dk1>
        <a:sysClr val="windowText" lastClr="000000"/>
      </a:dk1>
      <a:lt1>
        <a:sysClr val="window" lastClr="FFFFFF"/>
      </a:lt1>
      <a:dk2>
        <a:srgbClr val="454545"/>
      </a:dk2>
      <a:lt2>
        <a:srgbClr val="E0E0E0"/>
      </a:lt2>
      <a:accent1>
        <a:srgbClr val="F81B02"/>
      </a:accent1>
      <a:accent2>
        <a:srgbClr val="FC7715"/>
      </a:accent2>
      <a:accent3>
        <a:srgbClr val="AFBF41"/>
      </a:accent3>
      <a:accent4>
        <a:srgbClr val="50C49F"/>
      </a:accent4>
      <a:accent5>
        <a:srgbClr val="3B95C4"/>
      </a:accent5>
      <a:accent6>
        <a:srgbClr val="B560D4"/>
      </a:accent6>
      <a:hlink>
        <a:srgbClr val="FC5A1A"/>
      </a:hlink>
      <a:folHlink>
        <a:srgbClr val="B49E74"/>
      </a:folHlink>
    </a:clrScheme>
    <a:fontScheme name="Atlas">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tlas">
      <a:fillStyleLst>
        <a:solidFill>
          <a:schemeClr val="phClr"/>
        </a:solidFill>
        <a:gradFill rotWithShape="1">
          <a:gsLst>
            <a:gs pos="0">
              <a:schemeClr val="phClr">
                <a:tint val="62000"/>
                <a:alpha val="60000"/>
                <a:satMod val="109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4000"/>
                <a:satMod val="130000"/>
                <a:lumMod val="92000"/>
              </a:schemeClr>
            </a:gs>
            <a:gs pos="100000">
              <a:schemeClr val="phClr">
                <a:shade val="76000"/>
                <a:satMod val="130000"/>
                <a:lumMod val="88000"/>
              </a:schemeClr>
            </a:gs>
          </a:gsLst>
          <a:lin ang="5400000" scaled="0"/>
        </a:gradFill>
      </a:fillStyleLst>
      <a:lnStyleLst>
        <a:ln w="9525" cap="flat" cmpd="sng" algn="ctr">
          <a:solidFill>
            <a:schemeClr val="phClr">
              <a:shade val="90000"/>
            </a:schemeClr>
          </a:solidFill>
          <a:prstDash val="solid"/>
        </a:ln>
        <a:ln w="15875" cap="flat" cmpd="sng" algn="ctr">
          <a:solidFill>
            <a:schemeClr val="phClr">
              <a:shade val="90000"/>
            </a:schemeClr>
          </a:solidFill>
          <a:prstDash val="solid"/>
        </a:ln>
        <a:ln w="25400" cap="flat" cmpd="sng" algn="ctr">
          <a:solidFill>
            <a:schemeClr val="phClr"/>
          </a:solidFill>
          <a:prstDash val="solid"/>
        </a:ln>
      </a:lnStyleLst>
      <a:effectStyleLst>
        <a:effectStyle>
          <a:effectLst/>
        </a:effectStyle>
        <a:effectStyle>
          <a:effectLst/>
        </a:effectStyle>
        <a:effectStyle>
          <a:effectLst>
            <a:outerShdw blurRad="38100" dist="25400" dir="5400000" rotWithShape="0">
              <a:srgbClr val="000000">
                <a:alpha val="75000"/>
              </a:srgbClr>
            </a:outerShdw>
          </a:effectLst>
          <a:scene3d>
            <a:camera prst="orthographicFront">
              <a:rot lat="0" lon="0" rev="0"/>
            </a:camera>
            <a:lightRig rig="threePt" dir="tl"/>
          </a:scene3d>
          <a:sp3d>
            <a:bevelT w="0" h="0"/>
          </a:sp3d>
        </a:effectStyle>
      </a:effectStyleLst>
      <a:bgFillStyleLst>
        <a:solidFill>
          <a:schemeClr val="phClr"/>
        </a:solidFill>
        <a:solidFill>
          <a:schemeClr val="phClr"/>
        </a:solidFill>
        <a:gradFill rotWithShape="1">
          <a:gsLst>
            <a:gs pos="10000">
              <a:schemeClr val="phClr">
                <a:tint val="94000"/>
                <a:lumMod val="116000"/>
              </a:schemeClr>
            </a:gs>
            <a:gs pos="100000">
              <a:schemeClr val="phClr">
                <a:tint val="98000"/>
                <a:shade val="86000"/>
                <a:satMod val="90000"/>
                <a:lumMod val="88000"/>
              </a:schemeClr>
            </a:gs>
          </a:gsLst>
          <a:path path="circle">
            <a:fillToRect l="50000" t="15000" r="50000" b="169000"/>
          </a:path>
        </a:gradFill>
      </a:bgFillStyleLst>
    </a:fmtScheme>
  </a:themeElements>
  <a:objectDefaults/>
  <a:extraClrSchemeLst/>
  <a:extLst>
    <a:ext uri="{05A4C25C-085E-4340-85A3-A5531E510DB2}">
      <thm15:themeFamily xmlns:thm15="http://schemas.microsoft.com/office/thememl/2012/main" name="Atlas" id="{5156B0E4-0EB1-49FE-A26B-15F6F698AEC6}" vid="{508F7963-D0B5-43F7-BB2C-FCE3009C08E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TM16401371[[fn=Atlas]]</Template>
  <TotalTime>319</TotalTime>
  <Words>1857</Words>
  <Application>Microsoft Office PowerPoint</Application>
  <PresentationFormat>Widescreen</PresentationFormat>
  <Paragraphs>165</Paragraphs>
  <Slides>13</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Aptos</vt:lpstr>
      <vt:lpstr>Arial</vt:lpstr>
      <vt:lpstr>Calibri Light</vt:lpstr>
      <vt:lpstr>Rockwell</vt:lpstr>
      <vt:lpstr>Trebuchet MS</vt:lpstr>
      <vt:lpstr>Wingdings</vt:lpstr>
      <vt:lpstr>Atlas</vt:lpstr>
      <vt:lpstr>PowerPoint Presentation</vt:lpstr>
      <vt:lpstr>Revenue </vt:lpstr>
      <vt:lpstr>PowerPoint Presentation</vt:lpstr>
      <vt:lpstr>PowerPoint Presentation</vt:lpstr>
      <vt:lpstr>PowerPoint Presentation</vt:lpstr>
      <vt:lpstr>PowerPoint Presentation</vt:lpstr>
      <vt:lpstr>Booking </vt:lpstr>
      <vt:lpstr>PowerPoint Presentation</vt:lpstr>
      <vt:lpstr>PowerPoint Presentation</vt:lpstr>
      <vt:lpstr>PowerPoint Presentation</vt:lpstr>
      <vt:lpstr>PowerPoint Presentation</vt:lpstr>
      <vt:lpstr>Rating Analysis Report</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Tamil vanan siva</dc:creator>
  <cp:lastModifiedBy>Tamil vanan siva</cp:lastModifiedBy>
  <cp:revision>5</cp:revision>
  <dcterms:created xsi:type="dcterms:W3CDTF">2025-01-26T05:37:45Z</dcterms:created>
  <dcterms:modified xsi:type="dcterms:W3CDTF">2025-02-16T10:10:09Z</dcterms:modified>
</cp:coreProperties>
</file>